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2b4cdce6a54570" /><Relationship Type="http://schemas.openxmlformats.org/officeDocument/2006/relationships/extended-properties" Target="/docProps/app.xml" Id="Rc1fc46a5f9784566" /><Relationship Type="http://schemas.openxmlformats.org/officeDocument/2006/relationships/officeDocument" Target="/ppt/presentation.xml" Id="R648242b3d1f84e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ea2d2a8cbf41a9"/>
  </p:sldMasterIdLst>
  <p:notesMasterIdLst>
    <p:notesMasterId xmlns:r="http://schemas.openxmlformats.org/officeDocument/2006/relationships" r:id="R2d4fa567396c45d1"/>
  </p:notesMasterIdLst>
  <p:sldIdLst>
    <p:sldId xmlns:r="http://schemas.openxmlformats.org/officeDocument/2006/relationships" id="256" r:id="Ra72f5810f675432d"/>
    <p:sldId xmlns:r="http://schemas.openxmlformats.org/officeDocument/2006/relationships" id="257" r:id="R2fccebff35d14bd1"/>
    <p:sldId xmlns:r="http://schemas.openxmlformats.org/officeDocument/2006/relationships" id="258" r:id="R78ba0e80c18d47c3"/>
    <p:sldId xmlns:r="http://schemas.openxmlformats.org/officeDocument/2006/relationships" id="259" r:id="R1378b19c6c6f427c"/>
    <p:sldId xmlns:r="http://schemas.openxmlformats.org/officeDocument/2006/relationships" id="260" r:id="R800d9aebaded4e23"/>
    <p:sldId xmlns:r="http://schemas.openxmlformats.org/officeDocument/2006/relationships" id="261" r:id="Ree5fbed746154f19"/>
    <p:sldId xmlns:r="http://schemas.openxmlformats.org/officeDocument/2006/relationships" id="262" r:id="Re0d4ece908464365"/>
    <p:sldId xmlns:r="http://schemas.openxmlformats.org/officeDocument/2006/relationships" id="263" r:id="R0fd3b485f3b347a4"/>
    <p:sldId xmlns:r="http://schemas.openxmlformats.org/officeDocument/2006/relationships" id="264" r:id="R70479ae477804461"/>
    <p:sldId xmlns:r="http://schemas.openxmlformats.org/officeDocument/2006/relationships" id="265" r:id="Ra58ba88e1c104ab2"/>
    <p:sldId xmlns:r="http://schemas.openxmlformats.org/officeDocument/2006/relationships" id="266" r:id="R83eb5f2a11f440f6"/>
    <p:sldId xmlns:r="http://schemas.openxmlformats.org/officeDocument/2006/relationships" id="267" r:id="R5b4a296a1744442b"/>
    <p:sldId xmlns:r="http://schemas.openxmlformats.org/officeDocument/2006/relationships" id="268" r:id="R60f77836e36b41bf"/>
    <p:sldId xmlns:r="http://schemas.openxmlformats.org/officeDocument/2006/relationships" id="269" r:id="Rcca3fe922b064b96"/>
    <p:sldId xmlns:r="http://schemas.openxmlformats.org/officeDocument/2006/relationships" id="270" r:id="Ra58495919e7949a0"/>
    <p:sldId xmlns:r="http://schemas.openxmlformats.org/officeDocument/2006/relationships" id="271" r:id="Rffb948517eff47e5"/>
    <p:sldId xmlns:r="http://schemas.openxmlformats.org/officeDocument/2006/relationships" id="272" r:id="R00ff1ba5cd7e41c0"/>
    <p:sldId xmlns:r="http://schemas.openxmlformats.org/officeDocument/2006/relationships" id="273" r:id="R1f3808de261646ff"/>
    <p:sldId xmlns:r="http://schemas.openxmlformats.org/officeDocument/2006/relationships" id="274" r:id="R58da4092a9b94493"/>
    <p:sldId xmlns:r="http://schemas.openxmlformats.org/officeDocument/2006/relationships" id="275" r:id="Rf4fe1270676e4e8d"/>
    <p:sldId xmlns:r="http://schemas.openxmlformats.org/officeDocument/2006/relationships" id="276" r:id="Ra5af7efb70314e16"/>
    <p:sldId xmlns:r="http://schemas.openxmlformats.org/officeDocument/2006/relationships" id="277" r:id="Rbf1e7e8b9cac40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0ef6ea591d4b32" /><Relationship Type="http://schemas.openxmlformats.org/officeDocument/2006/relationships/slideMaster" Target="/ppt/slideMasters/slideMaster1.xml" Id="R6bea2d2a8cbf41a9" /><Relationship Type="http://schemas.openxmlformats.org/officeDocument/2006/relationships/notesMaster" Target="/ppt/notesMasters/notesMaster1.xml" Id="R2d4fa567396c45d1" /><Relationship Type="http://schemas.openxmlformats.org/officeDocument/2006/relationships/presProps" Target="/ppt/presProps.xml" Id="R528e7bd4cf2141e3" /><Relationship Type="http://schemas.openxmlformats.org/officeDocument/2006/relationships/tableStyles" Target="/ppt/tableStyles.xml" Id="Rff16d13b856a413e" /><Relationship Type="http://schemas.openxmlformats.org/officeDocument/2006/relationships/slide" Target="/ppt/slides/slide1.xml" Id="Ra72f5810f675432d" /><Relationship Type="http://schemas.openxmlformats.org/officeDocument/2006/relationships/slide" Target="/ppt/slides/slide2.xml" Id="R2fccebff35d14bd1" /><Relationship Type="http://schemas.openxmlformats.org/officeDocument/2006/relationships/slide" Target="/ppt/slides/slide3.xml" Id="R78ba0e80c18d47c3" /><Relationship Type="http://schemas.openxmlformats.org/officeDocument/2006/relationships/slide" Target="/ppt/slides/slide4.xml" Id="R1378b19c6c6f427c" /><Relationship Type="http://schemas.openxmlformats.org/officeDocument/2006/relationships/slide" Target="/ppt/slides/slide5.xml" Id="R800d9aebaded4e23" /><Relationship Type="http://schemas.openxmlformats.org/officeDocument/2006/relationships/slide" Target="/ppt/slides/slide6.xml" Id="Ree5fbed746154f19" /><Relationship Type="http://schemas.openxmlformats.org/officeDocument/2006/relationships/slide" Target="/ppt/slides/slide7.xml" Id="Re0d4ece908464365" /><Relationship Type="http://schemas.openxmlformats.org/officeDocument/2006/relationships/slide" Target="/ppt/slides/slide8.xml" Id="R0fd3b485f3b347a4" /><Relationship Type="http://schemas.openxmlformats.org/officeDocument/2006/relationships/slide" Target="/ppt/slides/slide9.xml" Id="R70479ae477804461" /><Relationship Type="http://schemas.openxmlformats.org/officeDocument/2006/relationships/slide" Target="/ppt/slides/slide10.xml" Id="Ra58ba88e1c104ab2" /><Relationship Type="http://schemas.openxmlformats.org/officeDocument/2006/relationships/slide" Target="/ppt/slides/slide11.xml" Id="R83eb5f2a11f440f6" /><Relationship Type="http://schemas.openxmlformats.org/officeDocument/2006/relationships/slide" Target="/ppt/slides/slide12.xml" Id="R5b4a296a1744442b" /><Relationship Type="http://schemas.openxmlformats.org/officeDocument/2006/relationships/slide" Target="/ppt/slides/slide13.xml" Id="R60f77836e36b41bf" /><Relationship Type="http://schemas.openxmlformats.org/officeDocument/2006/relationships/slide" Target="/ppt/slides/slide14.xml" Id="Rcca3fe922b064b96" /><Relationship Type="http://schemas.openxmlformats.org/officeDocument/2006/relationships/slide" Target="/ppt/slides/slide15.xml" Id="Ra58495919e7949a0" /><Relationship Type="http://schemas.openxmlformats.org/officeDocument/2006/relationships/slide" Target="/ppt/slides/slide16.xml" Id="Rffb948517eff47e5" /><Relationship Type="http://schemas.openxmlformats.org/officeDocument/2006/relationships/slide" Target="/ppt/slides/slide17.xml" Id="R00ff1ba5cd7e41c0" /><Relationship Type="http://schemas.openxmlformats.org/officeDocument/2006/relationships/slide" Target="/ppt/slides/slide18.xml" Id="R1f3808de261646ff" /><Relationship Type="http://schemas.openxmlformats.org/officeDocument/2006/relationships/slide" Target="/ppt/slides/slide19.xml" Id="R58da4092a9b94493" /><Relationship Type="http://schemas.openxmlformats.org/officeDocument/2006/relationships/slide" Target="/ppt/slides/slide20.xml" Id="Rf4fe1270676e4e8d" /><Relationship Type="http://schemas.openxmlformats.org/officeDocument/2006/relationships/slide" Target="/ppt/slides/slide21.xml" Id="Ra5af7efb70314e16" /><Relationship Type="http://schemas.openxmlformats.org/officeDocument/2006/relationships/slide" Target="/ppt/slides/slide22.xml" Id="Rbf1e7e8b9cac40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6571b23f5c46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35930e9f4a47d0" /><Relationship Type="http://schemas.openxmlformats.org/officeDocument/2006/relationships/notesMaster" Target="/ppt/notesMasters/notesMaster1.xml" Id="R991b8319ef7a47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950b9b599d4f3e" /><Relationship Type="http://schemas.openxmlformats.org/officeDocument/2006/relationships/notesMaster" Target="/ppt/notesMasters/notesMaster1.xml" Id="R1a68d878909040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fa630e4fab427c" /><Relationship Type="http://schemas.openxmlformats.org/officeDocument/2006/relationships/notesMaster" Target="/ppt/notesMasters/notesMaster1.xml" Id="Ra4d2185b551940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a0ccc885e34b77" /><Relationship Type="http://schemas.openxmlformats.org/officeDocument/2006/relationships/notesMaster" Target="/ppt/notesMasters/notesMaster1.xml" Id="R91bf055cd6354b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f5286365694d0c" /><Relationship Type="http://schemas.openxmlformats.org/officeDocument/2006/relationships/notesMaster" Target="/ppt/notesMasters/notesMaster1.xml" Id="R85062fb78c7241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51efafe4894be9" /><Relationship Type="http://schemas.openxmlformats.org/officeDocument/2006/relationships/notesMaster" Target="/ppt/notesMasters/notesMaster1.xml" Id="R245fc31a57364c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9cee8ccc1d4c93" /><Relationship Type="http://schemas.openxmlformats.org/officeDocument/2006/relationships/notesMaster" Target="/ppt/notesMasters/notesMaster1.xml" Id="R8d192ff3c1754b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2dd4b4d6324bdc" /><Relationship Type="http://schemas.openxmlformats.org/officeDocument/2006/relationships/notesMaster" Target="/ppt/notesMasters/notesMaster1.xml" Id="R0505e34dfc8749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654c83b6f24d6b" /><Relationship Type="http://schemas.openxmlformats.org/officeDocument/2006/relationships/notesMaster" Target="/ppt/notesMasters/notesMaster1.xml" Id="Rd467bf4ec3e349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336e85abaa4eba" /><Relationship Type="http://schemas.openxmlformats.org/officeDocument/2006/relationships/notesMaster" Target="/ppt/notesMasters/notesMaster1.xml" Id="R7592ac14dade43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4c65cb70bf4e6f" /><Relationship Type="http://schemas.openxmlformats.org/officeDocument/2006/relationships/notesMaster" Target="/ppt/notesMasters/notesMaster1.xml" Id="Rb4deeae6e0884b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dd04a80b9a4a07" /><Relationship Type="http://schemas.openxmlformats.org/officeDocument/2006/relationships/notesMaster" Target="/ppt/notesMasters/notesMaster1.xml" Id="R83474d72e27647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7d115365c14897" /><Relationship Type="http://schemas.openxmlformats.org/officeDocument/2006/relationships/notesMaster" Target="/ppt/notesMasters/notesMaster1.xml" Id="Rbc5b887c82fe49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afdf6a13e54435" /><Relationship Type="http://schemas.openxmlformats.org/officeDocument/2006/relationships/notesMaster" Target="/ppt/notesMasters/notesMaster1.xml" Id="Re49d4fe3e56240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6b2ec452fe4006" /><Relationship Type="http://schemas.openxmlformats.org/officeDocument/2006/relationships/notesMaster" Target="/ppt/notesMasters/notesMaster1.xml" Id="R2d7270bd830643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b615a0e1784272" /><Relationship Type="http://schemas.openxmlformats.org/officeDocument/2006/relationships/notesMaster" Target="/ppt/notesMasters/notesMaster1.xml" Id="Rfbfb5454a71440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491fec28f24d9b" /><Relationship Type="http://schemas.openxmlformats.org/officeDocument/2006/relationships/notesMaster" Target="/ppt/notesMasters/notesMaster1.xml" Id="R35d80ce98c054a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653e199bc44f1f" /><Relationship Type="http://schemas.openxmlformats.org/officeDocument/2006/relationships/notesMaster" Target="/ppt/notesMasters/notesMaster1.xml" Id="R98266356e0a6494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2bcaaedb37432e" /><Relationship Type="http://schemas.openxmlformats.org/officeDocument/2006/relationships/notesMaster" Target="/ppt/notesMasters/notesMaster1.xml" Id="R94c0eb38689c433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4f61d2007846f2" /><Relationship Type="http://schemas.openxmlformats.org/officeDocument/2006/relationships/notesMaster" Target="/ppt/notesMasters/notesMaster1.xml" Id="R9a3bc39fa4b645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dc13ca725314735" /><Relationship Type="http://schemas.openxmlformats.org/officeDocument/2006/relationships/notesMaster" Target="/ppt/notesMasters/notesMaster1.xml" Id="R286a10dc65bf4c5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1a5fd5bdff42de" /><Relationship Type="http://schemas.openxmlformats.org/officeDocument/2006/relationships/notesMaster" Target="/ppt/notesMasters/notesMaster1.xml" Id="R140a8c240e7343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7b60341d6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22e34c8cd34a87" /><Relationship Type="http://schemas.openxmlformats.org/officeDocument/2006/relationships/slideLayout" Target="/ppt/slideLayouts/slideLayout1.xml" Id="R538856eff0a84d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8856eff0a84d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238a41a3540b1" /><Relationship Type="http://schemas.openxmlformats.org/officeDocument/2006/relationships/notesSlide" Target="/ppt/notesSlides/notesSlide1.xml" Id="R67d66e42e5cd42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7b44d1e4948ba" /><Relationship Type="http://schemas.openxmlformats.org/officeDocument/2006/relationships/notesSlide" Target="/ppt/notesSlides/notesSlide2.xml" Id="R151482bfd1534c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9501783964303" /><Relationship Type="http://schemas.openxmlformats.org/officeDocument/2006/relationships/notesSlide" Target="/ppt/notesSlides/notesSlide3.xml" Id="R865d757e59b949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e1df271834b52" /><Relationship Type="http://schemas.openxmlformats.org/officeDocument/2006/relationships/notesSlide" Target="/ppt/notesSlides/notesSlide4.xml" Id="R696b74b4a38f44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9997b9c744a7f" /><Relationship Type="http://schemas.openxmlformats.org/officeDocument/2006/relationships/notesSlide" Target="/ppt/notesSlides/notesSlide5.xml" Id="Rd869c0d958a34c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56251a44549b3" /><Relationship Type="http://schemas.openxmlformats.org/officeDocument/2006/relationships/notesSlide" Target="/ppt/notesSlides/notesSlide6.xml" Id="Rf79ab95ed6c641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df35653454271" /><Relationship Type="http://schemas.openxmlformats.org/officeDocument/2006/relationships/notesSlide" Target="/ppt/notesSlides/notesSlide7.xml" Id="R03ba7519451e4b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23322ff4a4148" /><Relationship Type="http://schemas.openxmlformats.org/officeDocument/2006/relationships/notesSlide" Target="/ppt/notesSlides/notesSlide8.xml" Id="R894693dfa9a04e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0cfca17bd45cc" /><Relationship Type="http://schemas.openxmlformats.org/officeDocument/2006/relationships/notesSlide" Target="/ppt/notesSlides/notesSlide9.xml" Id="R0b4e4328921e41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0c40db6544431" /><Relationship Type="http://schemas.openxmlformats.org/officeDocument/2006/relationships/notesSlide" Target="/ppt/notesSlides/notesSlide10.xml" Id="Red1587a7514d4a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5d7fa117c446a" /><Relationship Type="http://schemas.openxmlformats.org/officeDocument/2006/relationships/notesSlide" Target="/ppt/notesSlides/notesSlide11.xml" Id="R3a418826584641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29b24913c45a3" /><Relationship Type="http://schemas.openxmlformats.org/officeDocument/2006/relationships/notesSlide" Target="/ppt/notesSlides/notesSlide12.xml" Id="R1af138380ffb43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6452cfd564fd9" /><Relationship Type="http://schemas.openxmlformats.org/officeDocument/2006/relationships/notesSlide" Target="/ppt/notesSlides/notesSlide13.xml" Id="R7438c6e1585644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eeb5f530c4bde" /><Relationship Type="http://schemas.openxmlformats.org/officeDocument/2006/relationships/notesSlide" Target="/ppt/notesSlides/notesSlide14.xml" Id="R4da6b21b80a24b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fde9296e54648" /><Relationship Type="http://schemas.openxmlformats.org/officeDocument/2006/relationships/notesSlide" Target="/ppt/notesSlides/notesSlide15.xml" Id="R2cc7eb1d8e634a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e71335acc4ab5" /><Relationship Type="http://schemas.openxmlformats.org/officeDocument/2006/relationships/notesSlide" Target="/ppt/notesSlides/notesSlide16.xml" Id="R8205400a531a4f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06fb816ce45b4" /><Relationship Type="http://schemas.openxmlformats.org/officeDocument/2006/relationships/notesSlide" Target="/ppt/notesSlides/notesSlide17.xml" Id="Rea99cce0450c4a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e48eb1e9644cb" /><Relationship Type="http://schemas.openxmlformats.org/officeDocument/2006/relationships/notesSlide" Target="/ppt/notesSlides/notesSlide18.xml" Id="R301d546608fc4e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ae9af6c0f45c6" /><Relationship Type="http://schemas.openxmlformats.org/officeDocument/2006/relationships/notesSlide" Target="/ppt/notesSlides/notesSlide19.xml" Id="Rec5b8c6ee6ab4c4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496f194154825" /><Relationship Type="http://schemas.openxmlformats.org/officeDocument/2006/relationships/notesSlide" Target="/ppt/notesSlides/notesSlide20.xml" Id="R06b28a9d8c0a4ef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aa470e7d74b78" /><Relationship Type="http://schemas.openxmlformats.org/officeDocument/2006/relationships/notesSlide" Target="/ppt/notesSlides/notesSlide21.xml" Id="Rb2ceefffa419429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6ab8971754871" /><Relationship Type="http://schemas.openxmlformats.org/officeDocument/2006/relationships/notesSlide" Target="/ppt/notesSlides/notesSlide22.xml" Id="R8285eae306eb47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9599D69-23DF-48E3-ACE2-7CAAE054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MINI HACKATHON AI · BATCH 03</a:t>
            </a:r>
          </a:p>
        </p:txBody>
      </p:sp>
      <p:sp>
        <p:nvSpPr>
          <p:cNvPr id="2" name="rect">
            <a:extLst xmlns:a="http://schemas.openxmlformats.org/drawingml/2006/main">
              <a:ext uri="{FF2B5EF4-FFF2-40B4-BE49-F238E27FC236}">
                <a16:creationId xmlns:a16="http://schemas.microsoft.com/office/drawing/2014/main" id="{F616C0FA-B79B-485E-8AFE-8CF857B5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A7AA712-574A-4E94-B6FF-579E39C7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VLearn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Active Recall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89E76FD-7AF5-4019-9AFF-06FB7280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Phát hiện “ảo tưởng đã hiểu bài” bằng quiz ngắn,</a:t>
            </a:r>
          </a:p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phản hồi có căn cứ và quyền kiểm soát của học viên.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D043E8FE-792F-4D60-B785-720A8D66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38200"/>
            <a:ext cx="3505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32F486-ADA1-426D-9A16-4F524FF9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26289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SPEC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→ PROTOTYPE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→ EVAL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→ LEARN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6B140A-9AB9-491B-BFD8-4C6465FB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Nhóm 5tuat · 31/07/2026</a:t>
            </a:r>
          </a:p>
        </p:txBody>
      </p:sp>
    </p:spTree>
    <p:extLst>
      <p:ext uri="{BB962C8B-B14F-4D97-AF65-F5344CB8AC3E}">
        <p14:creationId xmlns:p14="http://schemas.microsoft.com/office/powerpoint/2010/main" val="1463927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EDBE08B0-DF73-40A3-BD28-C3E1D09F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TÓM TẮT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45DB8A-B9F9-455C-86FF-0E44D692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Một khoảng trống rõ ràng, một lát cắt nhỏ và một kết quả chưa đạt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1B5F81-9400-4513-BF32-3899F12F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4DBBB0EE-8DAC-4378-AE52-F475D219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2DD6676-AFC5-4244-A43D-0AB9208D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05A28"/>
                </a:solidFill>
              </a:defRPr>
            </a:pPr>
            <a:r>
              <a:rPr sz="3900" b="1">
                <a:solidFill>
                  <a:srgbClr val="F05A28"/>
                </a:solidFill>
              </a:rPr>
              <a:t>99,88%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E1933E1-1535-4847-90E2-58F46748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Tutor chưa chủ động hỏi lại</a:t>
            </a:r>
          </a:p>
        </p:txBody>
      </p:sp>
      <p:sp>
        <p:nvSpPr>
          <p:cNvPr id="7" name="metric-note">
            <a:extLst xmlns:a="http://schemas.openxmlformats.org/drawingml/2006/main">
              <a:ext uri="{FF2B5EF4-FFF2-40B4-BE49-F238E27FC236}">
                <a16:creationId xmlns:a16="http://schemas.microsoft.com/office/drawing/2014/main" id="{91B7D713-A4BF-49F0-849C-CD322FE8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2.515/2.518 lượt chat</a:t>
            </a:r>
          </a:p>
        </p:txBody>
      </p:sp>
      <p:sp>
        <p:nvSpPr>
          <p:cNvPr id="8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B249CA1A-18D5-4AAB-8CD3-ADB58C44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C38F17A8-EF4E-4DCF-90C4-6C2C8A61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3A5F"/>
                </a:solidFill>
              </a:defRPr>
            </a:pPr>
            <a:r>
              <a:rPr sz="3900" b="1">
                <a:solidFill>
                  <a:srgbClr val="1E3A5F"/>
                </a:solidFill>
              </a:rPr>
              <a:t>88,88%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F3723FF-8475-41DF-A110-4D0EAA75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Sẵn sàng làm quiz ngắn</a:t>
            </a:r>
          </a:p>
        </p:txBody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C0885DF3-248C-4FEA-ABD0-9E5460C5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32/36 học viên</a:t>
            </a:r>
          </a:p>
        </p:txBody>
      </p:sp>
      <p:sp>
        <p:nvSpPr>
          <p:cNvPr id="12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2D529F65-3D29-4B19-957E-76EF619A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7E2EB17-579A-42F8-9A5E-49B39061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91C1C"/>
                </a:solidFill>
              </a:defRPr>
            </a:pPr>
            <a:r>
              <a:rPr sz="3900" b="1">
                <a:solidFill>
                  <a:srgbClr val="B91C1C"/>
                </a:solidFill>
              </a:rPr>
              <a:t>70%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4B9BC59-9DC4-44B0-B5E7-29CE3BF5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Golden set đạt tuyệt đối</a:t>
            </a:r>
          </a:p>
        </p:txBody>
      </p:sp>
      <p:sp>
        <p:nvSpPr>
          <p:cNvPr id="15" name="metric-note">
            <a:extLst xmlns:a="http://schemas.openxmlformats.org/drawingml/2006/main">
              <a:ext uri="{FF2B5EF4-FFF2-40B4-BE49-F238E27FC236}">
                <a16:creationId xmlns:a16="http://schemas.microsoft.com/office/drawing/2014/main" id="{D8E518B2-FBE1-4FA8-8F47-DAA0B8D8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14/20 case AI thật</a:t>
            </a:r>
          </a:p>
        </p:txBody>
      </p:sp>
      <p:sp>
        <p:nvSpPr>
          <p:cNvPr id="16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C53BC36D-BF0E-4766-BE5B-9A754C8F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876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F1E72EE-EF9F-4138-8ABD-D5898F13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86000"/>
            <a:ext cx="2495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803D"/>
                </a:solidFill>
              </a:defRPr>
            </a:pPr>
            <a:r>
              <a:rPr sz="3900" b="1">
                <a:solidFill>
                  <a:srgbClr val="15803D"/>
                </a:solidFill>
              </a:rPr>
              <a:t>0</a:t>
            </a:r>
          </a:p>
        </p:txBody>
      </p:sp>
      <p:sp>
        <p:nvSpPr>
          <p:cNvPr id="1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D443956F-1798-4F7A-8C05-5F5074B7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Citation bịa ngoài nguồn</a:t>
            </a:r>
          </a:p>
        </p:txBody>
      </p:sp>
      <p:sp>
        <p:nvSpPr>
          <p:cNvPr id="1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011A4545-CDA4-4530-BB53-6AD03CC2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0/20 case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5F003C0-2CAC-4BFD-AADE-58EBB887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Kết luận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8773F1F-B737-4570-84A1-32D93029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Giải pháp có tín hiệu nhu cầu mạnh và prototype chạy được, nhưng chất lượng AI hiện tại chưa vượt quality bar 85%. Trọng tâm tiếp theo là sửa prompt/citation và usability test trực tiếp.</a:t>
            </a:r>
          </a:p>
        </p:txBody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B905F114-C431-472C-8B81-C2F0933C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71F44C97-AB62-4D7C-8287-C8294A7F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7902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CB685F93-9323-42F5-BE1C-82964CC8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ĐỘI NGŨ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9825E2-8530-4842-8392-157875FB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Năm vai trò bao phủ toàn bộ chuỗi quyết định sản phẩm AI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AA22C52-9438-456E-8C97-B27E9B55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0F1C3544-28DB-40EA-A340-D78FCCB4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F9D1FE-1F40-4077-AA51-4ABCDB37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Phạm Quốc Bảo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074DEE-B1C3-4BBE-8473-32D6720A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Product / Spec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B7BBF8-610B-41CD-85AD-E97F93A3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JTBD, thiết kế, rủi ro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D0A080D4-BC15-4FC7-ABCB-0AE795B8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0DF6171-1C24-48C6-93E0-3F4F50AF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Trần Hoàng Long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85ABF30-43CB-4D29-AAE5-61B6D318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Data / Evidence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FEC3F73-A57D-4942-80EF-D529B684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Mining 2.522 chat, khảo sát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7964D747-E000-45DA-9711-1752702C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7484764-33B1-40D0-B8AE-17F0FE48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Trần Đức Bảo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059E710-59D8-485C-92DB-3A9EA26D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Prompt / Eval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21E7836-EA4E-4932-8223-BC3CE680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Prompt, golden set, trace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6AB61020-D0A0-4135-B570-EFFD4F48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8C22858-CE3C-4778-8312-B6B285A1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Nguyễn Sỹ Mạnh Cường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C91FB1E-210C-4F6B-9BEF-BEACAE51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Prototype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ECE07DA-771E-491F-BB79-B2101D4A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Frontend, server, flow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B510670D-0D90-4A44-8948-623ECA82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877D724-BCDF-4C87-8474-B5600AB6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Phạm Công Đạt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BEC6562-FD70-4B18-8150-661EBFFF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62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Validation / Demo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18A8F72-5628-46DA-B924-614FA78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Feedback, tổng hợp, trình bày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EEB6D1D6-952C-4CAF-B29C-AE918DF8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25" name="page">
            <a:extLst xmlns:a="http://schemas.openxmlformats.org/drawingml/2006/main">
              <a:ext uri="{FF2B5EF4-FFF2-40B4-BE49-F238E27FC236}">
                <a16:creationId xmlns:a16="http://schemas.microsoft.com/office/drawing/2014/main" id="{35A1DA8F-784C-4EB9-84D0-5062C1E6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0477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77C685F2-15BF-4D00-AD08-378960E7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BÀI TOÁN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48331B-F632-426E-8F62-FF5C2CF8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Học viên chỉ phát hiện lỗ hổng khi đã bắt đầu bài tập lớn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4A924F-B7AD-4BE3-8924-A4E305A6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8CAFB75-D58F-44CD-81E7-BBF3D4AE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Workflow hiện tại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2F541DD7-043E-4220-A837-652433D2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866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E52EE40-F959-4FE9-88DA-6658F40C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Xem bài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505A38F-A8B0-4F1D-9566-CF5169AD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AC620FC3-C053-4D6A-9D7D-EFF9019C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1866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01D308-3EE6-400C-A91F-BF81F1F6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670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Nghĩ đã hiểu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B3F2EC-C348-44DC-B2C7-F1542FE7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BACC1F55-E57B-488E-B8D6-51C105BB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76500"/>
            <a:ext cx="1866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56BFF4-5C1C-4FF4-9C9B-3453AF50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670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Làm bài lớn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659211-A03B-4705-8840-6FBFF7A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24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FF98B298-2EAF-4F46-B6B1-3EA43273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76500"/>
            <a:ext cx="1866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9AE63BD-9B7C-45EC-9336-9A8F688E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Phát hiện sai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8048360-92D7-4F6E-9780-771BA63A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7BE4C65E-665D-411C-A7F8-778E135D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76500"/>
            <a:ext cx="1866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C0F3E19-083A-4240-ABA2-78EBC8B7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670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Mất 2–3 giờ sửa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574A22B-715F-40C2-AF12-BDBFDBAC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Core JTBD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4F71EBC-5AD2-4D22-A2EE-0BF736C0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Kiểm tra và xác nhận mức độ hiểu bài thực tế ngay sau buổi học, trước khi áp dụng kiến thức vào bài tập lớn.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8F8D5780-96B3-49F4-9A78-F66E757C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5AC09C71-035C-4F0C-8AED-66CB7C23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3820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799EEB38-B21D-482D-9B5A-27D74073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BẰNG CHỨNG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99FF17-3461-4A72-B890-88D2F5D6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Dữ liệu vận hành cho thấy hệ thống hiện tại gần như hoàn toàn thụ động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021673-AE69-4FDD-9FB4-35D76B35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06DBBF07-128D-4EF9-805C-778B74FA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47CBF6A-C56A-4090-B8EF-63BCFF6C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3A5F"/>
                </a:solidFill>
              </a:defRPr>
            </a:pPr>
            <a:r>
              <a:rPr sz="3900" b="1">
                <a:solidFill>
                  <a:srgbClr val="1E3A5F"/>
                </a:solidFill>
              </a:rPr>
              <a:t>2.522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FE06A78-0D0D-4477-9853-90E9E597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Lượt chat thật đã khai thác</a:t>
            </a:r>
          </a:p>
        </p:txBody>
      </p:sp>
      <p:sp>
        <p:nvSpPr>
          <p:cNvPr id="7" name="metric-note">
            <a:extLst xmlns:a="http://schemas.openxmlformats.org/drawingml/2006/main">
              <a:ext uri="{FF2B5EF4-FFF2-40B4-BE49-F238E27FC236}">
                <a16:creationId xmlns:a16="http://schemas.microsoft.com/office/drawing/2014/main" id="{4E9C8905-5775-4AC3-9D90-7BE6645F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Dữ liệu ẩn danh trong data pack</a:t>
            </a:r>
          </a:p>
        </p:txBody>
      </p:sp>
      <p:sp>
        <p:nvSpPr>
          <p:cNvPr id="8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F1418AD3-785D-481F-BB6A-3B593799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C9F7008-6133-4CE5-B848-A5CB5C85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05A28"/>
                </a:solidFill>
              </a:defRPr>
            </a:pPr>
            <a:r>
              <a:rPr sz="3900" b="1">
                <a:solidFill>
                  <a:srgbClr val="F05A28"/>
                </a:solidFill>
              </a:rPr>
              <a:t>2.515/2.518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77D3348-F7D6-4C0F-86E1-447E74A1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Không có câu hỏi kiểm tra</a:t>
            </a:r>
          </a:p>
        </p:txBody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40F5B9B1-9E24-4104-8594-042892C6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asked_check_question = false</a:t>
            </a:r>
          </a:p>
        </p:txBody>
      </p:sp>
      <p:sp>
        <p:nvSpPr>
          <p:cNvPr id="12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BC7D3ACB-713E-475A-936C-DC46C49A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33600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CE5D2A3-5BE9-403F-A3E2-AE91D50C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91C1C"/>
                </a:solidFill>
              </a:defRPr>
            </a:pPr>
            <a:r>
              <a:rPr sz="3900" b="1">
                <a:solidFill>
                  <a:srgbClr val="B91C1C"/>
                </a:solidFill>
              </a:rPr>
              <a:t>0/1.261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E55A186-67D4-43E7-B964-70906AA3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Misconception được ghi nhận</a:t>
            </a:r>
          </a:p>
        </p:txBody>
      </p:sp>
      <p:sp>
        <p:nvSpPr>
          <p:cNvPr id="15" name="metric-note">
            <a:extLst xmlns:a="http://schemas.openxmlformats.org/drawingml/2006/main">
              <a:ext uri="{FF2B5EF4-FFF2-40B4-BE49-F238E27FC236}">
                <a16:creationId xmlns:a16="http://schemas.microsoft.com/office/drawing/2014/main" id="{5DEAF818-5045-4130-AAE4-E4AD0AE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671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Field tồn tại nhưng chưa được dùng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CC323D8-CA9D-4C7E-8CC3-A8B028C4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Ý nghĩa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59953B9-253D-4DB0-AE4F-B98CDBA3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VLearn Tutor trả lời khi được hỏi, nhưng chưa chủ động kiểm chứng người học có hiểu đúng hay không. Đây là khoảng trống mà Active Recall nhắm trực tiếp.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DDD815CD-08A6-4705-9BE8-29888EFF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0AC5E090-5C00-4AC0-83DD-C02DB750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51933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887F65D3-3D9D-43F2-90A7-EFAA10BE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KHẢO SÁT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D66F08-2380-42B0-88C3-BC8FE44C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Nhu cầu cao, nhưng người học muốn quiz ngắn và vẫn giữ quyền kiểm soát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E105AD-D71B-4C6C-8BFE-7B48C2D7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CF8548C9-465D-4193-BA45-027FC53D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647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C8B8CEA9-968E-4831-8F76-66BB2BB9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803D"/>
                </a:solidFill>
              </a:defRPr>
            </a:pPr>
            <a:r>
              <a:rPr sz="3900" b="1">
                <a:solidFill>
                  <a:srgbClr val="15803D"/>
                </a:solidFill>
              </a:rPr>
              <a:t>32/36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EA0A393-49D5-408A-9EA8-FF80D8EA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Sẵn sàng làm quiz</a:t>
            </a:r>
          </a:p>
        </p:txBody>
      </p:sp>
      <p:sp>
        <p:nvSpPr>
          <p:cNvPr id="7" name="metric-note">
            <a:extLst xmlns:a="http://schemas.openxmlformats.org/drawingml/2006/main">
              <a:ext uri="{FF2B5EF4-FFF2-40B4-BE49-F238E27FC236}">
                <a16:creationId xmlns:a16="http://schemas.microsoft.com/office/drawing/2014/main" id="{C0835AE3-4027-4115-9548-73D51204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Nếu bài quiz thực sự ngắn</a:t>
            </a:r>
          </a:p>
        </p:txBody>
      </p:sp>
      <p:sp>
        <p:nvSpPr>
          <p:cNvPr id="8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01CCBCC5-1B5B-4FF0-9B31-513CA5B8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2647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821CFC5-E6EE-4396-A45F-F09D832E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3A5F"/>
                </a:solidFill>
              </a:defRPr>
            </a:pPr>
            <a:r>
              <a:rPr sz="3900" b="1">
                <a:solidFill>
                  <a:srgbClr val="1E3A5F"/>
                </a:solidFill>
              </a:rPr>
              <a:t>33/36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8FD130E-3BFE-41B5-89BA-CF79ED10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Chia sẻ lịch sử sai</a:t>
            </a:r>
          </a:p>
        </p:txBody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FC73CEAE-A225-4C66-9E58-D3B910A9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Để nhận gợi ý ôn tập</a:t>
            </a:r>
          </a:p>
        </p:txBody>
      </p:sp>
      <p:sp>
        <p:nvSpPr>
          <p:cNvPr id="12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375B3B3D-02E0-446F-9476-C647844B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2647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F1D5E97-8FC5-4C44-8030-C7864FEB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803D"/>
                </a:solidFill>
              </a:defRPr>
            </a:pPr>
            <a:r>
              <a:rPr sz="3900" b="1">
                <a:solidFill>
                  <a:srgbClr val="15803D"/>
                </a:solidFill>
              </a:rPr>
              <a:t>32/36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7FA9683-0419-4F93-9EA8-777DA88F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Đồng ý chuyển TA</a:t>
            </a:r>
          </a:p>
        </p:txBody>
      </p:sp>
      <p:sp>
        <p:nvSpPr>
          <p:cNvPr id="15" name="metric-note">
            <a:extLst xmlns:a="http://schemas.openxmlformats.org/drawingml/2006/main">
              <a:ext uri="{FF2B5EF4-FFF2-40B4-BE49-F238E27FC236}">
                <a16:creationId xmlns:a16="http://schemas.microsoft.com/office/drawing/2014/main" id="{C013EE91-E2A9-49AD-B416-83E3BB70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Khi quiz không đạt</a:t>
            </a:r>
          </a:p>
        </p:txBody>
      </p:sp>
      <p:sp>
        <p:nvSpPr>
          <p:cNvPr id="16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6A8D550A-23DA-49DF-ABD6-A226D167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876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1AD63DC-AA25-4F86-81E9-4BF82280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2495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05A28"/>
                </a:solidFill>
              </a:defRPr>
            </a:pPr>
            <a:r>
              <a:rPr sz="3900" b="1">
                <a:solidFill>
                  <a:srgbClr val="F05A28"/>
                </a:solidFill>
              </a:rPr>
              <a:t>14/36</a:t>
            </a:r>
          </a:p>
        </p:txBody>
      </p:sp>
      <p:sp>
        <p:nvSpPr>
          <p:cNvPr id="1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BD8A278-FC75-4371-8FF1-5A51D9EB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Muốn hỏi trước khi gửi</a:t>
            </a:r>
          </a:p>
        </p:txBody>
      </p:sp>
      <p:sp>
        <p:nvSpPr>
          <p:cNvPr id="1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F76B7C13-274F-4C06-BF49-CF719D0E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099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Cơ sở cho PAIR Control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414AE11-B6D7-4E20-B17D-CE1411F2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Quyết định thiết kế: giới hạn prototype ở 3 câu và chỉ chuyển vùng slide cho TA sau khi học viên xác nhận.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2A945545-59BF-4B83-89ED-96D83589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E0EF77CF-961A-4C36-92FE-049772A0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804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EACCAFF3-8729-4DE6-AC32-AEDF6191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LỰA CHỌN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D080E6-DEB6-4FD2-AEF3-4ABF421B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Active Recall thắng vì kết hợp được quy mô, tần suất, tác động và khả năng build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A9FBEB3-E3E6-4794-A64E-2068C07F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26CBC1-5F64-44E5-8941-8B6A7BBD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Ứng viên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54CEF7-FC54-4282-8097-5DFA222B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6215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Tín hiệu impact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381CC7-0273-4E13-AF68-BE313529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621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Khả thi 1,5 ngày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8DA01D-6E46-4705-93F5-7E6B60BF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621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Quyết định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94D7F382-7C0D-46D8-B1D1-FE41F6CD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D07D8AA-FD7F-4C52-A495-D7E1A2DD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Active Recall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C3E9751-BA82-4B8A-ABDB-1412CCCC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527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~1.000 HV · 2–3 lần/tuần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AD2C434-CD42-4103-8CCD-FADC416F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Có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873B196-9CD1-4B2C-8C21-5A53FF67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CHỌN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FE7BC06B-7FF4-47BC-B134-DE4E1C8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D5D6219-1008-4B91-B7B5-C3287620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Fix Tutor lan man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36359AF-FD80-4A6F-8754-4BA9DA3A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195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~1.000 HV · mỗi lần hỏi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C196349-D813-41E3-9452-E1011151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Có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6E515A4-01FE-4686-9FA0-93D37F2E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Loại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D8E8A724-2D01-4774-9945-CBCC060F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18C4075-7902-47C5-BBB6-0659E554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Chuyển Discord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1BFC26A-318E-443D-AE28-BCAA9005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863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~200 HV · khi tutor bí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7E17C43-7E19-4C3F-BA87-7ECDD1D5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863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Khó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FF3C5D7-46D3-4CEC-93C8-E4B6B94C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863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Loại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A9EB3DC-6B97-4572-B71E-C7D7CE9C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Lý do chốt: bằng chứng nhu cầu mạnh nhất, tận dụng transcript sạch có sẵn và trực tiếp xử lý “ảo tưởng đã hiểu bài”.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A56D2A58-586A-498F-9E7E-889EB470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25" name="page">
            <a:extLst xmlns:a="http://schemas.openxmlformats.org/drawingml/2006/main">
              <a:ext uri="{FF2B5EF4-FFF2-40B4-BE49-F238E27FC236}">
                <a16:creationId xmlns:a16="http://schemas.microsoft.com/office/drawing/2014/main" id="{E3E655CB-0339-4C1A-9B16-D3FDE19A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7426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12A38F99-7571-4FC9-A2CA-594D990C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PHẠM VI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2F6466-6791-4676-932D-EF32DCCA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Một lát cắt đủ nhỏ để làm sâu trong 1,5 ngày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B80A316-2164-40C0-8A49-241A17A7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A4332C14-9672-4D1F-B09F-6B5C21CD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23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734458-0B1C-4825-AF50-374D046F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MỘT USER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0049044-90EC-46C4-843F-D5261FC0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Học viên vừa học xong Day 01/02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B34295-7A4A-47E4-9861-CFC83F0D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MỘT QUYẾT ĐỊNH AI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6D18425-2997-4D3E-85FF-BBE5D478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Phát hiện đúng/sai, misconception và trích nguồn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12A7A2F-0B94-458D-B9AE-C3E95E56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Không build</a:t>
            </a:r>
          </a:p>
        </p:txBody>
      </p:sp>
      <p:sp>
        <p:nvSpPr>
          <p:cNvPr id="10" name="bullet-0">
            <a:extLst xmlns:a="http://schemas.openxmlformats.org/drawingml/2006/main">
              <a:ext uri="{FF2B5EF4-FFF2-40B4-BE49-F238E27FC236}">
                <a16:creationId xmlns:a16="http://schemas.microsoft.com/office/drawing/2014/main" id="{79341FED-0424-4671-9D22-504CB91D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Chấm bài tập lớn thay giảng viên</a:t>
            </a:r>
          </a:p>
        </p:txBody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53989224-45D3-438F-A8C0-53D69B2E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Voice/video giải thích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ACB3E3BE-8DB5-4C81-842A-7E81421B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Thảo luận nhóm realtime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131CE42-C5B1-48C9-9124-736EB0B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5A28"/>
                </a:solidFill>
              </a:defRPr>
            </a:pPr>
            <a:r>
              <a:rPr sz="1875" b="1">
                <a:solidFill>
                  <a:srgbClr val="F05A28"/>
                </a:solidFill>
              </a:rPr>
              <a:t>Mức prototype: Working Prototype · Automation: Conditional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038AB71D-57C0-4929-8F28-49A91B7E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A41BC400-E88F-493A-BC05-656D0C48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10962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6E6B50DF-6E48-4FF1-A1EB-5E809627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TRẢI NGHIỆM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5430A6-019B-4A8F-872A-AD7F0DC7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Luồng chính giữ người học trong một vòng lặp ngắn và có căn cứ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C99CA1A-3E99-45B1-AF20-43E0FDCE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202E9A4B-F872-4D84-9197-EF93A0C5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8859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114FAE-3D74-475A-9FBA-87622A27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686B06-4390-428C-9285-A1B02D75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Đọc slide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6D6DA1A-3D8E-469D-8C25-ED2352B7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Chọn section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165159-55FA-4CF2-879C-D43EF56A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7D2AA94D-C7CA-493E-821A-26DBCC09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18859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4573AB-8D37-444C-9F97-2A3B0937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0708D77-7D48-46B6-83D9-9C4AD54F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099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Làm 3 câu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A7B0A2-86C5-471B-ACA4-805BB3F0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4330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Tình huống ngắn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04A8E01-A864-4868-919A-175A6D91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48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3E3C6BA7-AA17-4BBF-AEDC-EB2504C3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90750"/>
            <a:ext cx="18859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2C9BF7A-E736-4686-BEDF-BE7FDA73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43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9049CB3-771A-4426-8961-B1D98B8C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099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Nhận chẩn đoán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508DE48-7F9D-4D41-8222-895BFA9D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4330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Đúng/sai + misconception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B95E176-199C-4118-911A-E5894B56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51189B42-C2D3-4F3B-AB94-EE85A289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90750"/>
            <a:ext cx="18859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EFC8FC1-818B-4686-A7C4-4B3C5C6C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43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5DE7D64-A162-481B-A7E8-4D202931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099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Xem nguồn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20C9CD7-3275-43B5-9895-406D8CF0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4330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Mã [Txx-xxx]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0124028-655E-4658-8F69-E5451F73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48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291EF3F6-5B66-418B-98B4-47199429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90750"/>
            <a:ext cx="18859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C6288C3-F18D-4AE4-8F34-E7A8D69D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43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EFCC4B3-36B6-4A2B-8244-67AD365F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099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Quyết định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01F72FB-C1B1-4106-8EBD-12279F64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Tự gửi TA nếu cần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10E8ED5-CA7E-41BD-BB21-2BD2CB34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Nguyên tắc: không trả lời thay người học; phản hồi phải trace ngược về nguồn; escalation luôn có xác nhận.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1A5B38A7-9DF8-4345-9D5E-8E1FE8AB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30" name="page">
            <a:extLst xmlns:a="http://schemas.openxmlformats.org/drawingml/2006/main">
              <a:ext uri="{FF2B5EF4-FFF2-40B4-BE49-F238E27FC236}">
                <a16:creationId xmlns:a16="http://schemas.microsoft.com/office/drawing/2014/main" id="{46F655AC-4BEF-4AAB-8CF0-B8EA9787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7688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C3825EC1-D973-4080-99F4-0AC1987F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PROTOTYPE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D7ECD5-70CD-4B71-BE92-6E1C2C57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Giao diện split-view kết nối nội dung bài học với Active Recall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F2A8A04-D7B5-4F27-8A08-4924A168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7B60AE38-8CAC-41A4-9EE6-BDFEDA57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685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6B8F57-29C1-4656-8F86-05D08DB0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SLIDE VIEWER</a:t>
            </a:r>
          </a:p>
        </p:txBody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22CCD635-FDBF-431B-97F8-159063D9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63246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4701CE9-76AD-4F36-B0E1-D5B7B678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5562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3A5F"/>
                </a:solidFill>
              </a:defRPr>
            </a:pPr>
            <a:r>
              <a:rPr sz="2100" b="1">
                <a:solidFill>
                  <a:srgbClr val="1E3A5F"/>
                </a:solidFill>
              </a:rPr>
              <a:t>Nội dung slide gốc</a:t>
            </a:r>
          </a:p>
          <a:p xmlns:a="http://schemas.openxmlformats.org/drawingml/2006/main">
            <a:pPr algn="ctr">
              <a:defRPr sz="2100" b="1">
                <a:solidFill>
                  <a:srgbClr val="1E3A5F"/>
                </a:solidFill>
              </a:defRPr>
            </a:pPr>
            <a:r>
              <a:rPr sz="2100" b="1">
                <a:solidFill>
                  <a:srgbClr val="1E3A5F"/>
                </a:solidFill>
              </a:rPr>
              <a:t>+ highlight / điều hướng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F973567A-6B44-4605-B144-4A298558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4267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62B51C-7357-4E33-BB50-9C8070DD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ACTIVE RECALL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CE5EDC9-0C3F-4B70-9477-47821F50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• Sinh quiz theo section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• Chấm và giải thích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• Hiển thị citation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• Modal xác nhận chuyển TA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14DF178-767E-4934-BF29-52153314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AI thật: POST /api/generate-quiz qua server Express · Mock: khung hỏi đáp nội bộ.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CFCDC71-880B-4F2A-9F58-A91B831F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6B27B6AE-4147-4BCB-97B4-DAE143B0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57482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9774B924-6186-4D18-AE7D-A32C4FC9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KIẾN TRÚC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B8AF34-2A10-4445-A758-6D898ABA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API key ở server, nội dung bài giảng làm ngữ cảnh, UI giữ trạng thái học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E76EBAE-BF67-4C3C-96BE-E880FCE1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FE094BDE-355E-479C-80EA-5104947F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457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C815A2-C8BC-4772-820A-3215B6BC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Browser UI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5A17B5A-EC6E-4499-8C6A-6D385759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index.html / script.js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99DFB3F-9635-41CD-90BD-C8CCFF2D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14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5A28"/>
                </a:solidFill>
              </a:defRPr>
            </a:pPr>
            <a:r>
              <a:rPr sz="2100" b="1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17EE0B30-DA05-4ED7-99D5-39ED37CF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2457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B52174-0384-46AB-983F-DAFB95C3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98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Express proxy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288486C-D1CA-41DC-8F93-657F54B9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051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server.js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16FB026-1962-4765-AD11-445A4ADC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5A28"/>
                </a:solidFill>
              </a:defRPr>
            </a:pPr>
            <a:r>
              <a:rPr sz="2100" b="1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2B5752B8-2877-4D1F-AA41-762F913E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81250"/>
            <a:ext cx="2457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B3D9BE-F32B-4C1A-951C-514EA0CA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Prompt + knowledge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1BCAB2-D8FE-4DBC-A382-3BE2A719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prompts.js / knowledge.js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BAB68EB-05E8-43CA-BABC-08822716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5A28"/>
                </a:solidFill>
              </a:defRPr>
            </a:pPr>
            <a:r>
              <a:rPr sz="2100" b="1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2503BA6A-625A-46B8-9F40-E6329B6F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457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2468685-A7C0-4D55-9BE3-9D5A62D7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Gemini API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F665BEE-F477-48AD-B65B-73208370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gemini-3.1-flash-lite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CF101A7-B2A3-445B-9A49-BA8AB200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Dữ liệu runtime</a:t>
            </a:r>
          </a:p>
        </p:txBody>
      </p:sp>
      <p:sp>
        <p:nvSpPr>
          <p:cNvPr id="20" name="bullet-0">
            <a:extLst xmlns:a="http://schemas.openxmlformats.org/drawingml/2006/main">
              <a:ext uri="{FF2B5EF4-FFF2-40B4-BE49-F238E27FC236}">
                <a16:creationId xmlns:a16="http://schemas.microsoft.com/office/drawing/2014/main" id="{DDAF721F-A0E9-4D09-9904-8930EB2E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Ảnh slide được tạo từ PDF ở build-time</a:t>
            </a:r>
          </a:p>
        </p:txBody>
      </p:sp>
      <p:sp>
        <p:nvSpPr>
          <p:cNvPr id="21" name="bullet-1">
            <a:extLst xmlns:a="http://schemas.openxmlformats.org/drawingml/2006/main">
              <a:ext uri="{FF2B5EF4-FFF2-40B4-BE49-F238E27FC236}">
                <a16:creationId xmlns:a16="http://schemas.microsoft.com/office/drawing/2014/main" id="{602BF050-7165-4C43-8A13-3860732A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Knowledge.js chứa tóm tắt text theo slide</a:t>
            </a:r>
          </a:p>
        </p:txBody>
      </p:sp>
      <p:sp>
        <p:nvSpPr>
          <p:cNvPr id="22" name="bullet-2">
            <a:extLst xmlns:a="http://schemas.openxmlformats.org/drawingml/2006/main">
              <a:ext uri="{FF2B5EF4-FFF2-40B4-BE49-F238E27FC236}">
                <a16:creationId xmlns:a16="http://schemas.microsoft.com/office/drawing/2014/main" id="{9A23867D-A831-4299-8542-B3D18A9B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Không commit API key; gọi model qua proxy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B974D92B-2B39-45FF-AD8A-C737DC2F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24" name="page">
            <a:extLst xmlns:a="http://schemas.openxmlformats.org/drawingml/2006/main">
              <a:ext uri="{FF2B5EF4-FFF2-40B4-BE49-F238E27FC236}">
                <a16:creationId xmlns:a16="http://schemas.microsoft.com/office/drawing/2014/main" id="{67C2DF63-5C4F-4922-8E8F-EEDA86B4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43252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3EBFF354-B52D-443C-9B9A-ADCA238E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THIẾT KẾ AI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9272FF-04DC-4116-A816-AAA4FB71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Bốn lớp kiểm tra được áp dụng theo thứ tự để giảm hallucination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C5731A3-9FAD-47D9-9219-8609119A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9723AD45-4DCD-4A57-96F4-C2D192E7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070905-1F69-4EDF-BDA4-B36062D4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082B48-3F84-4B55-BB88-B7AA4E1A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71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Nguồn sự thật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81D8B41-5217-47B1-9F1F-AAF486A7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Không có context → không bịa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32339735-339B-4E27-9A0A-95900229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A308D1-31BE-434F-B502-A24C8F5A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5A28"/>
                </a:solidFill>
              </a:defRPr>
            </a:pPr>
            <a:r>
              <a:rPr sz="2100" b="1">
                <a:solidFill>
                  <a:srgbClr val="F05A28"/>
                </a:solidFill>
              </a:rPr>
              <a:t>②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D4ECE05-8FB3-4A4B-9B7E-D287A2CE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Mơ hồ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6BD60FB-EB99-42CD-B68F-2C0638E1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Câu quá ngắn → hỏi lại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9B4E8994-15D1-4DC4-8627-DD83874D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356B13-565F-4F32-96DB-8AD458EE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5A28"/>
                </a:solidFill>
              </a:defRPr>
            </a:pPr>
            <a:r>
              <a:rPr sz="2100" b="1">
                <a:solidFill>
                  <a:srgbClr val="F05A28"/>
                </a:solidFill>
              </a:rPr>
              <a:t>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2C72C0E-B7FE-469C-95F6-4D3C445C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76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Ngoài phạm vi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4E77A91-CFB8-4BBC-AF37-FC3942F0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Từ chối và kéo về mục tiêu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9F09BA7A-31D2-44B1-9DC6-CA6ABDFF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8E3590A-E86A-4B41-9502-276ADE90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5A28"/>
                </a:solidFill>
              </a:defRPr>
            </a:pPr>
            <a:r>
              <a:rPr sz="2100" b="1">
                <a:solidFill>
                  <a:srgbClr val="F05A28"/>
                </a:solidFill>
              </a:rPr>
              <a:t>④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2E7AE35-102A-46ED-A120-F55BF699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292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Đặc thù domain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CADAF99-158E-4974-AA13-946401E6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292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Phát hiện misconception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21C0633-6064-42B9-9E7D-258BDE7C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Output có cấu trúc: verdict · misconception_name · citation · feedback_to_student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3A0D38BE-FE3D-4036-B187-B5EA4948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B6989B7F-3D57-4B0D-B1BB-9280794D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644987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80CB5D74-E1AC-418B-A21F-8BD7CD6E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AN TOÀN &amp; KIỂM SOÁT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5167CB-CE50-438D-A2D0-7C1B5EC9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HAX/PAIR biến giới hạn AI thành tín hiệu rõ cho người học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606A369-D525-4415-B363-E9EECAE8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98F92142-E483-4E4C-9AAB-BCB6BE56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429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0F112A-28CF-42B8-9B7C-0286D271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G1 · Khả năng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E1B769-7C65-490B-99D1-B6017931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Nói rõ AI kiểm tra dựa trên nội dung bài học</a:t>
            </a:r>
          </a:p>
        </p:txBody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0D405EA7-3631-46F5-B860-0F013D16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429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3FD10D5-34CB-4DEB-93AB-B7E7FD75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G2 · Độ tin cậy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D0D754E-0352-4926-87AB-89619C7A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Gắn mã [Txx-xxx] cạnh phản hồi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FA9F0B5F-3E50-41B9-98C5-61F86140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5429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C5228D5-54AB-434F-9A1A-8DBF0F68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5A28"/>
                </a:solidFill>
              </a:defRPr>
            </a:pPr>
            <a:r>
              <a:rPr sz="1650" b="1">
                <a:solidFill>
                  <a:srgbClr val="F05A28"/>
                </a:solidFill>
              </a:rPr>
              <a:t>PAIR · Control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E5BA11C-B8CE-4EC7-B575-A8E61895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Chỉ gửi TA khi người học xác nhận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548DB588-75E9-4076-A85A-58B060EA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5429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82732F3-B257-4DB5-86FB-731490D1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G10 · Khi nghi ngờ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7BA44FF-3844-4C9A-8B6C-DA636DFA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960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Yêu cầu giải thích thêm thay vì đoán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7DF2627-3194-4CBF-A686-A47B276E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Cost of Error: sai kiến thức có hậu quả cao, nhưng tự động gửi TA cũng tạo rủi ro xã hội → Conditional Automation.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84482097-966D-4C94-B726-33E30E8F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BF3649C7-2DCF-4ABC-BE52-EE8F4E72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030402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B7955812-E9D3-4867-900E-BAED75B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KIỂM THỬ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2A3F1D-BB35-4675-A3FF-72B8C465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Golden set 20 case bao phủ cả đúng, sai, mơ hồ và ngoài phạm vi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1B52751-A50B-4DE0-9815-E17D29C9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A92EABEF-71DB-4E73-9ACA-31F1ED60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F074078-858B-4B4D-8A80-1E132CA9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3A5F"/>
                </a:solidFill>
              </a:defRPr>
            </a:pPr>
            <a:r>
              <a:rPr sz="3900" b="1">
                <a:solidFill>
                  <a:srgbClr val="1E3A5F"/>
                </a:solidFill>
              </a:rPr>
              <a:t>20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02B52FF-47F8-4C62-B6C9-FAC66CEF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Tổng test case</a:t>
            </a:r>
          </a:p>
        </p:txBody>
      </p:sp>
      <p:sp>
        <p:nvSpPr>
          <p:cNvPr id="7" name="metric-note">
            <a:extLst xmlns:a="http://schemas.openxmlformats.org/drawingml/2006/main">
              <a:ext uri="{FF2B5EF4-FFF2-40B4-BE49-F238E27FC236}">
                <a16:creationId xmlns:a16="http://schemas.microsoft.com/office/drawing/2014/main" id="{7CE60ABC-8991-4112-B288-680A0D7B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Golden set v1.1</a:t>
            </a:r>
          </a:p>
        </p:txBody>
      </p:sp>
      <p:sp>
        <p:nvSpPr>
          <p:cNvPr id="8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102CBD8B-18D8-4208-BAC2-BA9A566F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CF7577B-62B6-44D0-A193-A68679AA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05A28"/>
                </a:solidFill>
              </a:defRPr>
            </a:pPr>
            <a:r>
              <a:rPr sz="3900" b="1">
                <a:solidFill>
                  <a:srgbClr val="F05A28"/>
                </a:solidFill>
              </a:rPr>
              <a:t>4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747E4B-90D4-409B-96EA-3D56AEE4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Lớp chỗ khó</a:t>
            </a:r>
          </a:p>
        </p:txBody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CB8AD208-7706-4498-BD7D-1371FD33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Nguồn · mơ hồ · scope · domain</a:t>
            </a:r>
          </a:p>
        </p:txBody>
      </p:sp>
      <p:sp>
        <p:nvSpPr>
          <p:cNvPr id="12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8A4CFDDF-D01F-46CE-8515-72C4ECA3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7057F04-E8F5-460B-AB26-F8E13584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1 prompt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33ED0DF-936F-43C7-8388-C1A66FB2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Dùng xuyên suốt</a:t>
            </a:r>
          </a:p>
        </p:txBody>
      </p:sp>
      <p:sp>
        <p:nvSpPr>
          <p:cNvPr id="15" name="metric-note">
            <a:extLst xmlns:a="http://schemas.openxmlformats.org/drawingml/2006/main">
              <a:ext uri="{FF2B5EF4-FFF2-40B4-BE49-F238E27FC236}">
                <a16:creationId xmlns:a16="http://schemas.microsoft.com/office/drawing/2014/main" id="{05AB8AA9-E62F-44C1-ADA2-50254BA9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Không chỉnh giữa các case</a:t>
            </a:r>
          </a:p>
        </p:txBody>
      </p:sp>
      <p:sp>
        <p:nvSpPr>
          <p:cNvPr id="16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D7BCDA81-58E2-4CCD-9325-4D201C75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876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F76FEA5-9E42-4C5F-8701-0E637F2F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2495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91C1C"/>
                </a:solidFill>
              </a:defRPr>
            </a:pPr>
            <a:r>
              <a:rPr sz="3900" b="1">
                <a:solidFill>
                  <a:srgbClr val="B91C1C"/>
                </a:solidFill>
              </a:rPr>
              <a:t>Exact</a:t>
            </a:r>
          </a:p>
        </p:txBody>
      </p:sp>
      <p:sp>
        <p:nvSpPr>
          <p:cNvPr id="1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DFBEE5D-F11F-47D6-B08E-54AD58E9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Cách chấm citation</a:t>
            </a:r>
          </a:p>
        </p:txBody>
      </p:sp>
      <p:sp>
        <p:nvSpPr>
          <p:cNvPr id="1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502E7DAB-DB6A-45DF-BACF-0E54DC99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099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Verdict + citation phải khớp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7EFB419-6697-46EB-B60B-463BBB7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Quality bar đã chốt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0517805-6DD4-446D-BAAE-25220F28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≥ 85% case pass và không bịa citation ngoài transcript được cấp.</a:t>
            </a:r>
          </a:p>
        </p:txBody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03E8F449-4D4D-4395-B9C6-F1A7FB47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C13E48E4-79CE-4D94-B598-EAFA2C89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21461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7A15F059-1AD6-4F57-9A95-59F25467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KẾT QUẢ AI THẬT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9E4866-96AC-4D57-9571-9D3A9E87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14/20 case đạt tuyệt đối; quality bar 85% chưa được vượt qua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DC570FC-6B21-44F9-ABAC-9EB535D4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32773D1A-384B-4A08-94DE-C06217CC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3AADD15D-529E-4EB6-A43F-A1CBF905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7972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AFD870-53CF-43BF-BCD4-C178430F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873352D-7A46-4506-A3A8-EF8B3A6A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622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MỤC TIÊU 85%</a:t>
            </a:r>
          </a:p>
        </p:txBody>
      </p:sp>
      <p:sp>
        <p:nvSpPr>
          <p:cNvPr id="8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D4B35894-F515-405E-A45E-3B8F89E7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BCAEFB7-D899-48F1-B08A-2C3AC934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803D"/>
                </a:solidFill>
              </a:defRPr>
            </a:pPr>
            <a:r>
              <a:rPr sz="3900" b="1">
                <a:solidFill>
                  <a:srgbClr val="15803D"/>
                </a:solidFill>
              </a:rPr>
              <a:t>14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8EA309E-EA5D-49FB-99E2-49410726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Case pass</a:t>
            </a:r>
          </a:p>
        </p:txBody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83B1169E-A8D1-40D5-98E6-284381FD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Verdict và citation exact-match</a:t>
            </a:r>
          </a:p>
        </p:txBody>
      </p:sp>
      <p:sp>
        <p:nvSpPr>
          <p:cNvPr id="12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7FFD7F68-005D-4922-B8A8-BBE0E562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0C0B22D-2A14-40FD-A8BD-BEB944C2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91C1C"/>
                </a:solidFill>
              </a:defRPr>
            </a:pPr>
            <a:r>
              <a:rPr sz="3900" b="1">
                <a:solidFill>
                  <a:srgbClr val="B91C1C"/>
                </a:solidFill>
              </a:rPr>
              <a:t>6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9BB652A-F329-41BC-88D7-ECE1B9F9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Case fail</a:t>
            </a:r>
          </a:p>
        </p:txBody>
      </p:sp>
      <p:sp>
        <p:nvSpPr>
          <p:cNvPr id="15" name="metric-note">
            <a:extLst xmlns:a="http://schemas.openxmlformats.org/drawingml/2006/main">
              <a:ext uri="{FF2B5EF4-FFF2-40B4-BE49-F238E27FC236}">
                <a16:creationId xmlns:a16="http://schemas.microsoft.com/office/drawing/2014/main" id="{FB98F2A3-5B00-4914-B6B5-439A49F5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57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 lỗi hiểu + 5 lỗi citation/format</a:t>
            </a:r>
          </a:p>
        </p:txBody>
      </p:sp>
      <p:sp>
        <p:nvSpPr>
          <p:cNvPr id="16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9C7151A4-A21C-4198-A2AA-979E0DA4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24250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064D5A5-3278-4C6D-92FD-6F06862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803D"/>
                </a:solidFill>
              </a:defRPr>
            </a:pPr>
            <a:r>
              <a:rPr sz="3900" b="1">
                <a:solidFill>
                  <a:srgbClr val="15803D"/>
                </a:solidFill>
              </a:rPr>
              <a:t>0</a:t>
            </a:r>
          </a:p>
        </p:txBody>
      </p:sp>
      <p:sp>
        <p:nvSpPr>
          <p:cNvPr id="1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BAC705D-157E-4BF9-902A-D78AFBD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386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Citation bịa</a:t>
            </a:r>
          </a:p>
        </p:txBody>
      </p:sp>
      <p:sp>
        <p:nvSpPr>
          <p:cNvPr id="1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CEAA7E91-5925-480A-AA9D-FF0E7166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57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Không có mã ngoài transcript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A75CF05-DB8F-46B0-BD51-E4CD8354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Nguồn chuẩn báo cáo: eval/results_run1.md ngày 31/07/2026. Con số 90% trong spec/kịch bản cũ chưa có trace tương ứng.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54FACFE1-A2F5-46EA-8B75-E2D5F6EA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59603112-9817-4201-95C4-D972E32D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388127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58A9CD69-7431-4F31-8351-1D5185D9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PHÂN TÍCH LỖI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9079FB-5586-4D5A-86CB-7545AE60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Phần lớn thất bại nằm ở quy tắc citation, không phải nhận diện intent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5AEFE45-C227-44A8-ACCB-79692107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F64C1B6C-1371-4599-8BE2-9BD0FD1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33E3D2-6392-49E8-B5AB-93A4AFB8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91C1C"/>
                </a:solidFill>
              </a:defRPr>
            </a:pPr>
            <a:r>
              <a:rPr sz="2325" b="1">
                <a:solidFill>
                  <a:srgbClr val="B91C1C"/>
                </a:solidFill>
              </a:rPr>
              <a:t>1 case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E752498-F7D1-43F2-AB3E-49E997C5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7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Bỏ sót misconception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7E8984F-7AC2-4332-9569-C94E7632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4790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TC02 nhầm “song song token” với “song song nhiều câu”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ACE0CE8F-CE74-40AF-B62C-B555E047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E26C396-77F4-4999-99F5-513A1BDF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5A28"/>
                </a:solidFill>
              </a:defRPr>
            </a:pPr>
            <a:r>
              <a:rPr sz="2325" b="1">
                <a:solidFill>
                  <a:srgbClr val="F05A28"/>
                </a:solidFill>
              </a:rPr>
              <a:t>3 case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2C97D52-B497-4169-B651-3BCC178F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48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Citation lệch/thừa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9D2277C-67E0-4AF2-AE9E-FFA21979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48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Đúng nội dung nhưng exact-match không đạt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C94E5B0C-9B69-46D5-AAAE-42FB14CB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6C5A79B-9E82-4287-9045-88AABB0C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3A5F"/>
                </a:solidFill>
              </a:defRPr>
            </a:pPr>
            <a:r>
              <a:rPr sz="2325" b="1">
                <a:solidFill>
                  <a:srgbClr val="1E3A5F"/>
                </a:solidFill>
              </a:rPr>
              <a:t>2 case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45FD63F-E9B7-44DA-A128-6549BCF4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48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Citation theo verdict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AB69818-3ED5-49B7-8F30-0DE0A691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4820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Ambiguous/out-of-scope chưa tuân quy tắc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6207D47-0F14-4DA5-BFD7-A2479A42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Ưu tiên sửa: buộc diễn giải lại ý học viên → chỉ 1 citation → quy tắc citation rõ cho từng verdict.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180B68F6-5D23-4F5A-9018-7F611724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70520C08-00DC-40FE-ADC3-E35FD67B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084723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DC2E8544-FC6A-4AFB-9A6A-8EEFA9D8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VALIDATION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A07E445-74FA-4CB4-8BFF-213591D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Khảo sát xác nhận nhu cầu, nhưng chưa thay thế usability test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D75AD1-3210-46B8-92C1-EECAECBD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73580A01-A621-4E80-848C-0F5CDF5D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5334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F6DD297-8583-4676-9FC1-1E135BE2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ĐÃ CÓ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19E16E42-13CC-411A-8015-1647A6A0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36 phản hồi ngoài nhóm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D3A5FF6B-B54B-4651-97F2-4AE28A88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Tín hiệu định lượng rõ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F01FFE54-6A9B-49E0-9B92-C1BF38BC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Quote ẩn danh có trace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AC75FF37-7EC5-4B4D-8701-3EB210FD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Thiết kế đã đổi theo phản hồi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D9107742-D30D-449F-8774-23E9CAB7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5715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50B48DE-2C6F-43EB-B0A2-90776E4C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CHƯA CÓ</a:t>
            </a:r>
          </a:p>
        </p:txBody>
      </p:sp>
      <p:sp>
        <p:nvSpPr>
          <p:cNvPr id="12" name="bullet-0">
            <a:extLst xmlns:a="http://schemas.openxmlformats.org/drawingml/2006/main">
              <a:ext uri="{FF2B5EF4-FFF2-40B4-BE49-F238E27FC236}">
                <a16:creationId xmlns:a16="http://schemas.microsoft.com/office/drawing/2014/main" id="{5184F64D-EB33-4373-8E7B-F53CFDC6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5 lượt thao tác trực tiếp</a:t>
            </a:r>
          </a:p>
        </p:txBody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8E0964AD-A87B-4AB0-A116-1B406ACB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956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Quan sát task completion</a:t>
            </a:r>
          </a:p>
        </p:txBody>
      </p:sp>
      <p:sp>
        <p:nvSpPr>
          <p:cNvPr id="14" name="bullet-2">
            <a:extLst xmlns:a="http://schemas.openxmlformats.org/drawingml/2006/main">
              <a:ext uri="{FF2B5EF4-FFF2-40B4-BE49-F238E27FC236}">
                <a16:creationId xmlns:a16="http://schemas.microsoft.com/office/drawing/2014/main" id="{1B4EEDA6-B9EF-40AD-83BC-F628360B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Độ tin cậy vào phản hồi AI</a:t>
            </a:r>
          </a:p>
        </p:txBody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FF26F94C-4DA9-4C5B-B55E-953072DA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00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Evidence đầy đủ cho R6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40E2C27-F34F-4A10-BA95-5951132B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Báo cáo không đánh đồng “muốn dùng” với “dùng được”. Đây là giới hạn quan trọng nhất của bằng chứng hiện tại.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688CD4F3-AB02-4FDE-9DBC-A2D5E982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296384C6-3514-4868-885B-8C46D09C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228253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D9ECD9B0-A62B-43E4-A72F-353DAF32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QUYẾT ĐỊNH SAU FEEDBACK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9EE41A-11BF-4C2C-87E6-C4F7B09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Bốn thay đổi nhỏ làm prototype phù hợp người học hơn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B145484-DD64-46D2-9536-813F086F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C34E241-C76A-4F9D-82F4-346FA7EB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5A28"/>
                </a:solidFill>
              </a:defRPr>
            </a:pPr>
            <a:r>
              <a:rPr sz="2400" b="1">
                <a:solidFill>
                  <a:srgbClr val="F05A28"/>
                </a:solidFill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A10CB4B-AD00-4D9B-B707-CA7A2208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764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Quiz 3 câu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FBA8C31-5ED6-49ED-830E-E6F06836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32/36 chỉ sẵn sàng nếu ngắn</a:t>
            </a:r>
          </a:p>
        </p:txBody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C7E3A6C2-3585-4525-BBE0-12EC99FE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0E8A8A4-F627-4E1C-B5A8-AE198463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5A28"/>
                </a:solidFill>
              </a:defRPr>
            </a:pPr>
            <a:r>
              <a:rPr sz="2400" b="1">
                <a:solidFill>
                  <a:srgbClr val="F05A28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16CF20-84A3-48B5-A3FE-3CC28134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Nút xác nhận gửi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2711CBF-67E2-4F32-894E-93B7134B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336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14/36 muốn được hỏi trước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1B5A3091-8423-463C-9FF9-BD95A93B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82E736-33B9-4E93-A87E-B1ECA065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5A28"/>
                </a:solidFill>
              </a:defRPr>
            </a:pPr>
            <a:r>
              <a:rPr sz="2400" b="1">
                <a:solidFill>
                  <a:srgbClr val="F05A28"/>
                </a:solidFill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2BA109-A981-4242-9E3C-7BA59F8B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766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Citation nội bộ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F1E2944-174D-400C-ABF6-EBF08622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Người học không muốn link ngoài</a:t>
            </a:r>
          </a:p>
        </p:txBody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21613AA5-E5D2-4B19-A8CD-2EDC86BD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9C77AC3-002D-4FE4-9564-8346CBB9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5A28"/>
                </a:solidFill>
              </a:defRPr>
            </a:pPr>
            <a:r>
              <a:rPr sz="2400" b="1">
                <a:solidFill>
                  <a:srgbClr val="F05A28"/>
                </a:solidFill>
              </a:rPr>
              <a:t>04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6AFE82A-9059-40AE-A07E-4642EC42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Giữ một flow chính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1153A8F-EA3B-47D5-9888-7E08E9E5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Giảm cảm giác rườm rà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EB0C3A86-8A37-419F-84BF-0526D75F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DA7E5AB5-DF06-4EDC-8EFC-C201851F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544BB3DA-A9F7-4216-B36B-E8AF0D0A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00853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56019F98-49BF-434F-A10C-515D5B31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ĐÁNH GIÁ THEO RUBRIC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0B1582-D5F8-4AE0-A1FF-C41EB436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Repo có bằng chứng mạnh ở R1–R5; R6 là khoảng trống cần đóng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B8A397-1451-4178-B4A3-B1C9D58E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BCD722B3-8990-4139-AEBD-DF8C9776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68B348-F0C9-4E32-A200-E16A5FE0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R1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AAFD358-862C-4798-8423-26DF6C60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Evidence &amp; impact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BF960E-21B9-48D6-BA88-7565C2DF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Mạnh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CE057E4-3B3E-4D84-AD7A-00ACA1D5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00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spec + chatlog + N=36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365FC3-0621-4D98-B53A-D04D8E0D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R2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6BB93BB-97AA-49D8-BB6C-1797B584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Lát cắt &amp; thiết kế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AAFA07A-2C03-4487-BB18-81C2113E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Mạnh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97DA64-C3D2-4C94-A9C5-6347FEAE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71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spec §4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3184B168-14B4-4B91-98AF-9200D5B2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2E83B02-D615-4C37-BC42-FD92BDA2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R3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39034C7-016B-407B-A46F-E03DAD63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Rủi ro AI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B076086-0722-47AF-8842-84EF56E5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Mạnh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5BEF6C3-EF0D-470A-ABBB-4021D8E1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43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8 kịch bản / 4 lớp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5A72889-14C9-4969-934A-93C7AA78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R4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23CBC09-C242-49A0-827E-2BC18141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Kiểm thử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3D17481-AE0D-4232-8674-F7D5BE1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Có bằng chứng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3F1689A-B2AE-4E8E-B9ED-C7FCEE2D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14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20 case + trace, hiện 70%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AF28D76E-7442-437E-BE69-95FA298C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07F867E-BE10-412F-BC8E-9BC8E676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R5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5BE22F5-A8E4-4EC9-BAE3-D6315433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Prototype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4FF9666-C254-42F2-85D7-C035126A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Working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4BE5E49-9D61-46A8-B1FF-108919EC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86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UI + Express + Gemini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09C002F-F4D1-4B4C-93E7-DA4D99D8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R6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37CD4A4-D2FD-4403-A35F-6D4ED384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57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User validation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08C9D2F-DD57-4C41-AA13-CB66CA21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1C1C"/>
                </a:solidFill>
              </a:defRPr>
            </a:pPr>
            <a:r>
              <a:rPr sz="1275" b="1">
                <a:solidFill>
                  <a:srgbClr val="B91C1C"/>
                </a:solidFill>
              </a:rPr>
              <a:t>Thiếu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9D5C5D7-2E3D-4B02-AA5D-EAC1BD4C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Chưa có 5 usability test</a:t>
            </a:r>
          </a:p>
        </p:txBody>
      </p:sp>
      <p:sp>
        <p:nvSpPr>
          <p:cNvPr id="31" name="rect">
            <a:extLst xmlns:a="http://schemas.openxmlformats.org/drawingml/2006/main">
              <a:ext uri="{FF2B5EF4-FFF2-40B4-BE49-F238E27FC236}">
                <a16:creationId xmlns:a16="http://schemas.microsoft.com/office/drawing/2014/main" id="{AA39DD65-839C-4F15-8EC1-44A96F8C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81ADE26C-82B8-42FA-8737-3F3EB30B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R7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2C51369-E693-4136-B1A1-953E87B3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29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Quy trình repo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0A715B7-A887-48D5-8AF0-00513098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29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Đủ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734C654-8E76-421C-919F-3DB87626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2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Phân công + reflection</a:t>
            </a:r>
          </a:p>
        </p:txBody>
      </p:sp>
      <p:sp>
        <p:nvSpPr>
          <p:cNvPr id="36" name="footer">
            <a:extLst xmlns:a="http://schemas.openxmlformats.org/drawingml/2006/main">
              <a:ext uri="{FF2B5EF4-FFF2-40B4-BE49-F238E27FC236}">
                <a16:creationId xmlns:a16="http://schemas.microsoft.com/office/drawing/2014/main" id="{B4E0B406-9C4E-49D9-A0F0-172B3816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37" name="page">
            <a:extLst xmlns:a="http://schemas.openxmlformats.org/drawingml/2006/main">
              <a:ext uri="{FF2B5EF4-FFF2-40B4-BE49-F238E27FC236}">
                <a16:creationId xmlns:a16="http://schemas.microsoft.com/office/drawing/2014/main" id="{7BBE8D34-BAAF-4943-8E90-2DE6BE2D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556835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7671615D-D03F-4A89-88F7-A1B51A8E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922EB4-FBFF-40F1-A5B6-9B01FAD7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Một tuần tiếp theo nên tập trung vào bằng chứng, không mở rộng tính năng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35A2D57-F4C0-408F-97EC-FCCE6139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518F4E4B-F80A-407B-8287-9694E478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4574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D28456-3B71-4A21-AC08-CC078D5F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EBF5E6-BB25-4633-AE1B-DEC20283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Sửa prompt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1090DD2-5165-45C4-B60D-93DAE61E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Diễn giải lại ý + 1 citation duy nhất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4F40EBB3-1866-4352-9588-50E4BD56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4574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A0E5235-2642-43B5-B274-1933C4C7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81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5A28"/>
                </a:solidFill>
              </a:defRPr>
            </a:pPr>
            <a:r>
              <a:rPr sz="2325" b="1">
                <a:solidFill>
                  <a:srgbClr val="F05A28"/>
                </a:solidFill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BE45EC6-AEBD-4002-B58F-1C9476E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Chạy eval lại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8201994-5778-4B4B-99F4-CDE58782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Trace đủ 20 case, giữ cách chấm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3C1A919C-2BB6-4B0C-9B1E-54C43460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24574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EA97294-2732-4CB9-8AE1-59894D67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5A28"/>
                </a:solidFill>
              </a:defRPr>
            </a:pPr>
            <a:r>
              <a:rPr sz="2325" b="1">
                <a:solidFill>
                  <a:srgbClr val="F05A28"/>
                </a:solidFill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9C475F-CB93-44BF-AE67-FAB65DEB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Test 5 người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6F85F48-5D8D-4B25-ACED-9D788D1D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Ít nhất 2 willing users thao tác thật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DB681C0A-56DE-4AFA-B8E7-DC0B1246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4574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67CE287-6E41-49F7-B99F-C996B8CF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5A28"/>
                </a:solidFill>
              </a:defRPr>
            </a:pPr>
            <a:r>
              <a:rPr sz="2325" b="1">
                <a:solidFill>
                  <a:srgbClr val="F05A28"/>
                </a:solidFill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DA7E60A-BEC7-4EC0-8D15-5EDA6AB3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Đóng vòng học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B29F877-AE0E-4ADF-B418-320849AB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5285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Lưu lịch sử sai và gợi ý ôn tập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AE731E8-6DE2-49FF-8E96-5DC0A1BC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Điều kiện hoàn thành: ≥85% exact-match, 0 citation bịa, 5/5 người hoàn thành flow chính.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51C6C7EF-817C-476A-A8EA-8AD34422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C8FCB308-8FA6-493B-9919-CBB3965F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859431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164A4EBE-5CDF-4FEB-98C2-74FD427F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BÀI HỌC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7FC824-087A-49E5-8F8D-18268670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Bằng chứng chỉ có giá trị khi phương pháp đo khớp câu hỏi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F979BD-B334-48C0-949F-635F0A46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97411220-914E-4D2D-8101-AE55FE75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533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206943-F9D3-48E4-8FD2-74ED5E6B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DATA MINING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9BEE13-0510-4E43-91EB-716114FF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Vấn đề có tồn tại không?</a:t>
            </a:r>
          </a:p>
        </p:txBody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44AE3748-879A-48F7-8792-393073F1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533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A6CDB88-FE65-4F63-BA97-07262CA9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288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SURVEY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0A00229-7A6B-42F9-B1DC-2DBCD786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Người học có muốn giải pháp không?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3E427D5C-8250-4E21-A748-ACFA9E1D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533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B909F79-E12A-4DE5-A980-9F477B2A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EVAL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B75F0D-CE55-4838-968E-CBFDEB6D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AI có xử lý đúng không?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B748EE4D-C068-4E5F-937E-04013B3B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533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5254012-E1D6-4D8A-9734-BCC1F39B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USABILITY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F090A31-8271-4032-A646-60C92D35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Người học có dùng được không?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AFEE12B-6D3D-4CF3-930C-6A369A3C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Bài học chung của nhóm: không rõ JTBD thì đừng bàn feature; không có trace thì đừng gọi đó là kết quả.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9B5E657C-3F0D-46CF-971E-056A9B90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VLEARN ACTIVE RECALL · NHÓM 5TUAT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4DE507A5-B51D-4446-BC75-7B29C463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5555"/>
                </a:solidFill>
              </a:defRPr>
            </a:pPr>
            <a:r>
              <a:rPr sz="825" b="1">
                <a:solidFill>
                  <a:srgbClr val="55555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462196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4D82B5F-CE04-4DA0-8B31-3DC963D0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KẾT LUẬN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4D9F86D-CF12-40C0-9DAA-68D36E0A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763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Active Recall đáng để tiếp tục,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nhưng chưa sẵn sàng để tuyên bố đạt.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5166E32-EF5C-4197-9294-309165C6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4F0"/>
                </a:solidFill>
              </a:defRPr>
            </a:pPr>
            <a:r>
              <a:rPr sz="1800" b="0">
                <a:solidFill>
                  <a:srgbClr val="D8E4F0"/>
                </a:solidFill>
              </a:rPr>
              <a:t>Nhu cầu đã rõ · Prototype đã chạy · AI thật chưa vượt quality bar · Validation trực tiếp còn thiếu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7EE73193-56E6-4E5B-ADD9-766C95DE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685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F688F9-763E-4468-90B3-7BF22706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Next decision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B491DB-EB56-48FA-8003-1F1425BA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Tập trung sửa chất lượng và kiểm chứng người dùng trước khi mở rộng tính năng.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60FAD7-E851-443F-97F5-2C7F2EDF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NHÓM 5TUAT</a:t>
            </a:r>
          </a:p>
        </p:txBody>
      </p:sp>
    </p:spTree>
    <p:extLst>
      <p:ext uri="{BB962C8B-B14F-4D97-AF65-F5344CB8AC3E}">
        <p14:creationId xmlns:p14="http://schemas.microsoft.com/office/powerpoint/2010/main" val="671991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2026-07-31T07:45:16.8470000Z</dcterms:created>
  <dcterms:modified xsi:type="dcterms:W3CDTF">2026-07-31T07:45:16.8480000Z</dcterms:modified>
</coreProperties>
</file>