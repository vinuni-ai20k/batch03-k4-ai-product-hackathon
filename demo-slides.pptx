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EB4FC-C9EE-1089-E5A5-244D7A3C8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30CDD-ECE4-97F1-DD32-3080B9956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97E7F-D9F8-09B1-5D1F-D8481D5B8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9559F-0762-0650-A359-F522CD0F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16C21-7B59-6B4C-564A-31165381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C722-B490-5BAC-07B3-A3E79303F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709DE-4757-E75A-3ADD-08B09C7BD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DA4B-CC29-7513-62CF-8F7EE23C2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F7E02-734D-3200-9140-D7DD91443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20901-B14F-4B37-63D7-8EE847992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8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E67B1-5689-A808-702C-F8BB97D3B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39FC0-48A3-8BB5-450D-6CFCA1F55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5BB90-4FEF-5435-5642-D5080369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DD61F-F226-F254-7FB4-A2F54C95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FCEC6-6AA4-7E6E-04FD-4E7511F9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8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17FA-C93E-A5FF-3EF3-6D8E50E3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7F2C4-2F38-E670-7E92-4C6705E5C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F1511-F851-D3E4-95F4-F06CC0654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06B75-0386-896E-5F58-E7115F76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DE3FB-6416-432E-CBA5-50F8C9611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308F6-F5AD-AF16-4A57-311AC5281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E474-D08E-0DE7-0B01-1D1E0F09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EF4E4-FEBB-6CAE-48A9-2B3E9E335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E37E6-84FF-34B1-E82B-4D3429B64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0D738-B9FE-8FE7-D8EF-A8F7BBF55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001230-87C2-831B-AF50-8D0268315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59F0FA-E58A-6DB7-6A54-FDEADAA2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EAD4D4-B8DB-509D-9379-CB88A731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B4A4A-1F2F-FB77-9E2D-B3AE3F175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1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A1FF-6394-4B0A-5795-87D719719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F13B1B-FD67-7B3D-9E66-5490DC312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A61B6-1CCF-6E3F-3531-9BB3DEAF4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16DB4-FF86-CE03-9F15-1BD203C4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00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81BB16-3F37-010E-AEBD-E1DB065A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9F4586-FF85-B253-A707-420200E6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0178C-992F-1473-AF97-F09CB703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2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009A-4B38-06C5-69E5-3906F700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74EB4-6A6D-D174-4F15-2E8670544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6D00A-8BD8-F2AE-BCFF-A84E23435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00275-6394-6320-EA5E-826A558B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DB531-2FA7-15AE-3E44-1994C4ED2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62C6D-3007-1A4B-E8AB-27B432FC0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62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119C-848A-EC4F-16EF-177940B64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32E0A5-87DC-5555-6B83-C705E6561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78E49-66C2-9C79-A81E-BD9222E3C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C4AD3-B412-E67B-B55C-DE1F90488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AFFF5-7CEB-ED35-DD71-1B607DB46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61929-1962-9A2E-6170-12AE8A16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46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9A2D-AAF5-6296-3F04-1530D452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E5A07E-9C66-FD7B-E8E7-CDEB019D8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A0037-CE45-3B3E-F491-D1A7374D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4B26F-FB6C-539C-D547-9BD521ED2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A11A9-56F7-DE1C-5336-3087BBB7C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24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B17FBC-AD80-FB41-A72A-0714CAD97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E4BAD-C47F-55A8-601D-D39986552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78B9-26B6-E5A7-EEB2-9686038E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B66DF-5999-28C8-1347-7FE3A26D2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B4B20-6894-12C7-E66A-162ACE9F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1531A-9FFC-00CA-EEE1-99954E8F0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19158-2F20-57BF-74EB-92DCF1108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E2210-32EE-49C2-3C8F-1788358BF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97D79-93B2-46CD-A3B1-DA8323F42DAB}" type="datetimeFigureOut">
              <a:rPr lang="en-US" smtClean="0"/>
              <a:t>30/07/2026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8FF29-7BA3-CEDA-DE23-44DBE8479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97B4-C3D8-1692-6AF8-48F57015E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C4A06-3B7B-4859-BC86-2D92CD8F8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0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-eyebrow">
            <a:extLst>
              <a:ext uri="{FF2B5EF4-FFF2-40B4-BE49-F238E27FC236}">
                <a16:creationId xmlns:a16="http://schemas.microsoft.com/office/drawing/2014/main" id="{D65B899C-A32B-30E3-F288-D3D8F9F3207D}"/>
              </a:ext>
            </a:extLst>
          </p:cNvPr>
          <p:cNvSpPr txBox="1"/>
          <p:nvPr/>
        </p:nvSpPr>
        <p:spPr>
          <a:xfrm>
            <a:off x="406400" y="381000"/>
            <a:ext cx="520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b="1">
                <a:solidFill>
                  <a:srgbClr val="FF6B35"/>
                </a:solidFill>
                <a:latin typeface="Arial" panose="020B0604020202020204" pitchFamily="34" charset="0"/>
              </a:rPr>
              <a:t>VLEARN ACTIVE RECALL · NHÓM 5TUAT</a:t>
            </a:r>
          </a:p>
        </p:txBody>
      </p:sp>
      <p:sp>
        <p:nvSpPr>
          <p:cNvPr id="3" name="s1-title">
            <a:extLst>
              <a:ext uri="{FF2B5EF4-FFF2-40B4-BE49-F238E27FC236}">
                <a16:creationId xmlns:a16="http://schemas.microsoft.com/office/drawing/2014/main" id="{B564C9C5-B09B-C397-234C-323C9B12C5BE}"/>
              </a:ext>
            </a:extLst>
          </p:cNvPr>
          <p:cNvSpPr txBox="1"/>
          <p:nvPr/>
        </p:nvSpPr>
        <p:spPr>
          <a:xfrm>
            <a:off x="406400" y="965200"/>
            <a:ext cx="5334000" cy="18466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4000" b="1">
                <a:solidFill>
                  <a:srgbClr val="111111"/>
                </a:solidFill>
                <a:latin typeface="Arial" panose="020B0604020202020204" pitchFamily="34" charset="0"/>
              </a:rPr>
              <a:t>Khoảng trống nằm ở việc học viên chưa tự kiểm tra</a:t>
            </a:r>
            <a:endParaRPr lang="en-US" sz="4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s1-job">
            <a:extLst>
              <a:ext uri="{FF2B5EF4-FFF2-40B4-BE49-F238E27FC236}">
                <a16:creationId xmlns:a16="http://schemas.microsoft.com/office/drawing/2014/main" id="{40F19E1C-6915-ABDD-45E1-5FDB17844D0D}"/>
              </a:ext>
            </a:extLst>
          </p:cNvPr>
          <p:cNvSpPr txBox="1"/>
          <p:nvPr/>
        </p:nvSpPr>
        <p:spPr>
          <a:xfrm>
            <a:off x="406400" y="3098800"/>
            <a:ext cx="52324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2000">
                <a:solidFill>
                  <a:srgbClr val="111111"/>
                </a:solidFill>
                <a:latin typeface="Arial" panose="020B0604020202020204" pitchFamily="34" charset="0"/>
              </a:rPr>
              <a:t>Sau khi học xong Day 2, học viên cần xác nhận mình hiểu thật trước khi làm bài tập lớn.</a:t>
            </a:r>
            <a:endParaRPr lang="en-US" sz="200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s1-jtbd-label">
            <a:extLst>
              <a:ext uri="{FF2B5EF4-FFF2-40B4-BE49-F238E27FC236}">
                <a16:creationId xmlns:a16="http://schemas.microsoft.com/office/drawing/2014/main" id="{A7D6E100-8619-E48F-4D07-916862AE2D1B}"/>
              </a:ext>
            </a:extLst>
          </p:cNvPr>
          <p:cNvSpPr txBox="1"/>
          <p:nvPr/>
        </p:nvSpPr>
        <p:spPr>
          <a:xfrm>
            <a:off x="406400" y="45466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00" b="1">
                <a:solidFill>
                  <a:srgbClr val="555555"/>
                </a:solidFill>
                <a:latin typeface="Arial" panose="020B0604020202020204" pitchFamily="34" charset="0"/>
              </a:rPr>
              <a:t>CORE JTBD</a:t>
            </a:r>
          </a:p>
        </p:txBody>
      </p:sp>
      <p:sp>
        <p:nvSpPr>
          <p:cNvPr id="6" name="s1-jtbd">
            <a:extLst>
              <a:ext uri="{FF2B5EF4-FFF2-40B4-BE49-F238E27FC236}">
                <a16:creationId xmlns:a16="http://schemas.microsoft.com/office/drawing/2014/main" id="{2D1CEA68-BE83-FADA-9658-3889B21A3163}"/>
              </a:ext>
            </a:extLst>
          </p:cNvPr>
          <p:cNvSpPr txBox="1"/>
          <p:nvPr/>
        </p:nvSpPr>
        <p:spPr>
          <a:xfrm>
            <a:off x="406400" y="4902200"/>
            <a:ext cx="5232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>
                <a:solidFill>
                  <a:srgbClr val="111111"/>
                </a:solidFill>
                <a:latin typeface="Arial" panose="020B0604020202020204" pitchFamily="34" charset="0"/>
              </a:rPr>
              <a:t>Kiểm tra mức độ hiểu bài ngay sau buổi học để không mang lỗ hổng kiến thức sang bài tập.</a:t>
            </a:r>
          </a:p>
        </p:txBody>
      </p:sp>
      <p:sp>
        <p:nvSpPr>
          <p:cNvPr id="7" name="s1-metric-a-panel">
            <a:extLst>
              <a:ext uri="{FF2B5EF4-FFF2-40B4-BE49-F238E27FC236}">
                <a16:creationId xmlns:a16="http://schemas.microsoft.com/office/drawing/2014/main" id="{3F4E0DC5-6DF1-8362-AC3C-0C5DC0276F31}"/>
              </a:ext>
            </a:extLst>
          </p:cNvPr>
          <p:cNvSpPr/>
          <p:nvPr/>
        </p:nvSpPr>
        <p:spPr>
          <a:xfrm>
            <a:off x="6273800" y="2133600"/>
            <a:ext cx="2578100" cy="29464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1-metric-a">
            <a:extLst>
              <a:ext uri="{FF2B5EF4-FFF2-40B4-BE49-F238E27FC236}">
                <a16:creationId xmlns:a16="http://schemas.microsoft.com/office/drawing/2014/main" id="{85BA8423-1B5D-FBAC-5865-EB790CBF0E2C}"/>
              </a:ext>
            </a:extLst>
          </p:cNvPr>
          <p:cNvSpPr txBox="1"/>
          <p:nvPr/>
        </p:nvSpPr>
        <p:spPr>
          <a:xfrm>
            <a:off x="6553200" y="2463800"/>
            <a:ext cx="20828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4600" b="1">
                <a:solidFill>
                  <a:srgbClr val="FF6B35"/>
                </a:solidFill>
                <a:latin typeface="Arial" panose="020B0604020202020204" pitchFamily="34" charset="0"/>
              </a:rPr>
              <a:t>99,88%</a:t>
            </a:r>
          </a:p>
        </p:txBody>
      </p:sp>
      <p:sp>
        <p:nvSpPr>
          <p:cNvPr id="9" name="s1-metric-a-copy">
            <a:extLst>
              <a:ext uri="{FF2B5EF4-FFF2-40B4-BE49-F238E27FC236}">
                <a16:creationId xmlns:a16="http://schemas.microsoft.com/office/drawing/2014/main" id="{99043137-2EED-616F-1670-EA1A113A02AF}"/>
              </a:ext>
            </a:extLst>
          </p:cNvPr>
          <p:cNvSpPr txBox="1"/>
          <p:nvPr/>
        </p:nvSpPr>
        <p:spPr>
          <a:xfrm>
            <a:off x="6553200" y="3759200"/>
            <a:ext cx="2006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1600">
                <a:solidFill>
                  <a:srgbClr val="111111"/>
                </a:solidFill>
                <a:latin typeface="Arial" panose="020B0604020202020204" pitchFamily="34" charset="0"/>
              </a:rPr>
              <a:t>2.515/2.518 lượt chat không có câu hỏi kiểm tra chủ động.</a:t>
            </a:r>
            <a:endParaRPr lang="en-US" sz="160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0" name="s1-metric-b-panel">
            <a:extLst>
              <a:ext uri="{FF2B5EF4-FFF2-40B4-BE49-F238E27FC236}">
                <a16:creationId xmlns:a16="http://schemas.microsoft.com/office/drawing/2014/main" id="{C73DC82A-1597-EA8F-ED9B-0EA2A78C1F19}"/>
              </a:ext>
            </a:extLst>
          </p:cNvPr>
          <p:cNvSpPr/>
          <p:nvPr/>
        </p:nvSpPr>
        <p:spPr>
          <a:xfrm>
            <a:off x="9220200" y="2133600"/>
            <a:ext cx="2565400" cy="29464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1-metric-b">
            <a:extLst>
              <a:ext uri="{FF2B5EF4-FFF2-40B4-BE49-F238E27FC236}">
                <a16:creationId xmlns:a16="http://schemas.microsoft.com/office/drawing/2014/main" id="{56B7C499-3340-9B7F-1ABC-A8489D3B4940}"/>
              </a:ext>
            </a:extLst>
          </p:cNvPr>
          <p:cNvSpPr txBox="1"/>
          <p:nvPr/>
        </p:nvSpPr>
        <p:spPr>
          <a:xfrm>
            <a:off x="9461500" y="2463800"/>
            <a:ext cx="21336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4600" b="1">
                <a:solidFill>
                  <a:srgbClr val="111111"/>
                </a:solidFill>
                <a:latin typeface="Arial" panose="020B0604020202020204" pitchFamily="34" charset="0"/>
              </a:rPr>
              <a:t>83,33%</a:t>
            </a:r>
          </a:p>
        </p:txBody>
      </p:sp>
      <p:sp>
        <p:nvSpPr>
          <p:cNvPr id="12" name="s1-metric-b-copy">
            <a:extLst>
              <a:ext uri="{FF2B5EF4-FFF2-40B4-BE49-F238E27FC236}">
                <a16:creationId xmlns:a16="http://schemas.microsoft.com/office/drawing/2014/main" id="{F680D831-EAB3-A2C7-FCD6-CB28CA1E09A3}"/>
              </a:ext>
            </a:extLst>
          </p:cNvPr>
          <p:cNvSpPr txBox="1"/>
          <p:nvPr/>
        </p:nvSpPr>
        <p:spPr>
          <a:xfrm>
            <a:off x="9512300" y="3759200"/>
            <a:ext cx="2006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>
                <a:solidFill>
                  <a:srgbClr val="111111"/>
                </a:solidFill>
                <a:latin typeface="Arial" panose="020B0604020202020204" pitchFamily="34" charset="0"/>
              </a:rPr>
              <a:t>20/24 học viên sẵn sàng làm Quiz nếu bài đủ ngắn.</a:t>
            </a:r>
          </a:p>
        </p:txBody>
      </p:sp>
      <p:sp>
        <p:nvSpPr>
          <p:cNvPr id="13" name="source-1">
            <a:extLst>
              <a:ext uri="{FF2B5EF4-FFF2-40B4-BE49-F238E27FC236}">
                <a16:creationId xmlns:a16="http://schemas.microsoft.com/office/drawing/2014/main" id="{C3CEC682-1833-4D08-E51A-39CA780A2C9F}"/>
              </a:ext>
            </a:extLst>
          </p:cNvPr>
          <p:cNvSpPr txBox="1"/>
          <p:nvPr/>
        </p:nvSpPr>
        <p:spPr>
          <a:xfrm>
            <a:off x="406400" y="63500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900">
                <a:solidFill>
                  <a:srgbClr val="555555"/>
                </a:solidFill>
                <a:latin typeface="Arial" panose="020B0604020202020204" pitchFamily="34" charset="0"/>
              </a:rPr>
              <a:t>Nguồn: spec.md §1-§2 · Google Form N=24</a:t>
            </a:r>
          </a:p>
        </p:txBody>
      </p:sp>
      <p:sp>
        <p:nvSpPr>
          <p:cNvPr id="14" name="page-1">
            <a:extLst>
              <a:ext uri="{FF2B5EF4-FFF2-40B4-BE49-F238E27FC236}">
                <a16:creationId xmlns:a16="http://schemas.microsoft.com/office/drawing/2014/main" id="{E569E3CC-0C10-6A83-6041-0ED2A1D47816}"/>
              </a:ext>
            </a:extLst>
          </p:cNvPr>
          <p:cNvSpPr txBox="1"/>
          <p:nvPr/>
        </p:nvSpPr>
        <p:spPr>
          <a:xfrm>
            <a:off x="11150600" y="63246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sz="1000" b="1">
                <a:solidFill>
                  <a:srgbClr val="555555"/>
                </a:solidFill>
                <a:latin typeface="Arial" panose="020B0604020202020204" pitchFamily="34" charset="0"/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3918396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-title">
            <a:extLst>
              <a:ext uri="{FF2B5EF4-FFF2-40B4-BE49-F238E27FC236}">
                <a16:creationId xmlns:a16="http://schemas.microsoft.com/office/drawing/2014/main" id="{C3254FA0-8949-4EB0-DA4B-6FC7BDF00B9D}"/>
              </a:ext>
            </a:extLst>
          </p:cNvPr>
          <p:cNvSpPr txBox="1"/>
          <p:nvPr/>
        </p:nvSpPr>
        <p:spPr>
          <a:xfrm>
            <a:off x="406400" y="355600"/>
            <a:ext cx="113792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Bằng chứng mạnh nhất dẫn đến Active Recall</a:t>
            </a:r>
          </a:p>
        </p:txBody>
      </p:sp>
      <p:sp>
        <p:nvSpPr>
          <p:cNvPr id="3" name="s2-subtitle">
            <a:extLst>
              <a:ext uri="{FF2B5EF4-FFF2-40B4-BE49-F238E27FC236}">
                <a16:creationId xmlns:a16="http://schemas.microsoft.com/office/drawing/2014/main" id="{EA387B71-F39E-16AA-1879-5A8D3526BF41}"/>
              </a:ext>
            </a:extLst>
          </p:cNvPr>
          <p:cNvSpPr txBox="1"/>
          <p:nvPr/>
        </p:nvSpPr>
        <p:spPr>
          <a:xfrm>
            <a:off x="406400" y="12954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1700">
                <a:solidFill>
                  <a:srgbClr val="555555"/>
                </a:solidFill>
                <a:latin typeface="Arial" panose="020B0604020202020204" pitchFamily="34" charset="0"/>
              </a:rPr>
              <a:t>Ba hướng được so sánh bằng quy mô, tần suất và chi phí cho người học.</a:t>
            </a:r>
            <a:endParaRPr lang="en-US" sz="170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s2-impact-table">
            <a:extLst>
              <a:ext uri="{FF2B5EF4-FFF2-40B4-BE49-F238E27FC236}">
                <a16:creationId xmlns:a16="http://schemas.microsoft.com/office/drawing/2014/main" id="{9511E986-61F0-0E9B-B3FE-E80C59CC2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499422"/>
              </p:ext>
            </p:extLst>
          </p:nvPr>
        </p:nvGraphicFramePr>
        <p:xfrm>
          <a:off x="406400" y="2209800"/>
          <a:ext cx="11379200" cy="271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3796971965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529163993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186608192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57222663"/>
                    </a:ext>
                  </a:extLst>
                </a:gridCol>
              </a:tblGrid>
              <a:tr h="67945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Ứng viên</a:t>
                      </a:r>
                    </a:p>
                  </a:txBody>
                  <a:tcPr marL="101600" marR="101600" marT="63500" marB="635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Quy mô và tần suất</a:t>
                      </a:r>
                    </a:p>
                  </a:txBody>
                  <a:tcPr marL="101600" marR="101600" marT="63500" marB="635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Chi phí mỗi lần</a:t>
                      </a:r>
                    </a:p>
                  </a:txBody>
                  <a:tcPr marL="101600" marR="101600" marT="63500" marB="635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Quyết định</a:t>
                      </a:r>
                    </a:p>
                  </a:txBody>
                  <a:tcPr marL="101600" marR="101600" marT="63500" marB="6350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69201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Active Recall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1.000 HV · 2-3 lần/tuần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2-3 giờ sửa bài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6B35"/>
                          </a:solidFill>
                          <a:latin typeface="Arial" panose="020B0604020202020204" pitchFamily="34" charset="0"/>
                        </a:rPr>
                        <a:t>CHỌN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92075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Fix Tutor lan man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1.000 HV · mỗi lần hỏi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2-5 phút đọc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4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Loại · pain yếu hơn</a:t>
                      </a:r>
                      <a:endParaRPr lang="en-US" sz="1400" b="0">
                        <a:solidFill>
                          <a:srgbClr val="11111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822137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Chuyển Discord cho TA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~200 HV · khi Tutor bí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15-30 phút chờ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</a:rPr>
                        <a:t>Loại · khó build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742181"/>
                  </a:ext>
                </a:extLst>
              </a:tr>
            </a:tbl>
          </a:graphicData>
        </a:graphic>
      </p:graphicFrame>
      <p:sp>
        <p:nvSpPr>
          <p:cNvPr id="5" name="s2-callout-rule">
            <a:extLst>
              <a:ext uri="{FF2B5EF4-FFF2-40B4-BE49-F238E27FC236}">
                <a16:creationId xmlns:a16="http://schemas.microsoft.com/office/drawing/2014/main" id="{AB718701-59B4-7298-9901-AF2DB4FE9A4B}"/>
              </a:ext>
            </a:extLst>
          </p:cNvPr>
          <p:cNvSpPr/>
          <p:nvPr/>
        </p:nvSpPr>
        <p:spPr>
          <a:xfrm>
            <a:off x="406400" y="5410200"/>
            <a:ext cx="88900" cy="609600"/>
          </a:xfrm>
          <a:prstGeom prst="rect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2-callout">
            <a:extLst>
              <a:ext uri="{FF2B5EF4-FFF2-40B4-BE49-F238E27FC236}">
                <a16:creationId xmlns:a16="http://schemas.microsoft.com/office/drawing/2014/main" id="{A6EDB650-7660-437D-CFAA-8123D06F84A3}"/>
              </a:ext>
            </a:extLst>
          </p:cNvPr>
          <p:cNvSpPr txBox="1"/>
          <p:nvPr/>
        </p:nvSpPr>
        <p:spPr>
          <a:xfrm>
            <a:off x="685800" y="5346700"/>
            <a:ext cx="1054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b="1">
                <a:solidFill>
                  <a:srgbClr val="111111"/>
                </a:solidFill>
                <a:latin typeface="Arial" panose="020B0604020202020204" pitchFamily="34" charset="0"/>
              </a:rPr>
              <a:t>Quyết định chọn dựa trên 83,33% nhu cầu và khoảng trống 99,88% trong Tutor hiện tại.</a:t>
            </a:r>
          </a:p>
        </p:txBody>
      </p:sp>
      <p:sp>
        <p:nvSpPr>
          <p:cNvPr id="7" name="source-2">
            <a:extLst>
              <a:ext uri="{FF2B5EF4-FFF2-40B4-BE49-F238E27FC236}">
                <a16:creationId xmlns:a16="http://schemas.microsoft.com/office/drawing/2014/main" id="{4627C6FF-4B4E-CF82-BE1D-D6990F465F7C}"/>
              </a:ext>
            </a:extLst>
          </p:cNvPr>
          <p:cNvSpPr txBox="1"/>
          <p:nvPr/>
        </p:nvSpPr>
        <p:spPr>
          <a:xfrm>
            <a:off x="406400" y="63500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900">
                <a:solidFill>
                  <a:srgbClr val="555555"/>
                </a:solidFill>
                <a:latin typeface="Arial" panose="020B0604020202020204" pitchFamily="34" charset="0"/>
              </a:rPr>
              <a:t>Nguồn: spec.md §2 · phân tích khảo sát và mining</a:t>
            </a:r>
          </a:p>
        </p:txBody>
      </p:sp>
      <p:sp>
        <p:nvSpPr>
          <p:cNvPr id="8" name="page-2">
            <a:extLst>
              <a:ext uri="{FF2B5EF4-FFF2-40B4-BE49-F238E27FC236}">
                <a16:creationId xmlns:a16="http://schemas.microsoft.com/office/drawing/2014/main" id="{D7FA04BB-3F7D-80D4-5750-001272347C7E}"/>
              </a:ext>
            </a:extLst>
          </p:cNvPr>
          <p:cNvSpPr txBox="1"/>
          <p:nvPr/>
        </p:nvSpPr>
        <p:spPr>
          <a:xfrm>
            <a:off x="11150600" y="63246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sz="1000" b="1">
                <a:solidFill>
                  <a:srgbClr val="555555"/>
                </a:solidFill>
                <a:latin typeface="Arial" panose="020B0604020202020204" pitchFamily="34" charset="0"/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4276732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-title">
            <a:extLst>
              <a:ext uri="{FF2B5EF4-FFF2-40B4-BE49-F238E27FC236}">
                <a16:creationId xmlns:a16="http://schemas.microsoft.com/office/drawing/2014/main" id="{12310151-D2D8-C876-691E-CF0DF336F431}"/>
              </a:ext>
            </a:extLst>
          </p:cNvPr>
          <p:cNvSpPr txBox="1"/>
          <p:nvPr/>
        </p:nvSpPr>
        <p:spPr>
          <a:xfrm>
            <a:off x="406400" y="355600"/>
            <a:ext cx="113792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Một flow ngắn biến “đã xem” thành “đã kiểm tra”</a:t>
            </a:r>
          </a:p>
        </p:txBody>
      </p:sp>
      <p:sp>
        <p:nvSpPr>
          <p:cNvPr id="3" name="s3-flow">
            <a:extLst>
              <a:ext uri="{FF2B5EF4-FFF2-40B4-BE49-F238E27FC236}">
                <a16:creationId xmlns:a16="http://schemas.microsoft.com/office/drawing/2014/main" id="{46140225-5221-57E5-07AD-5F60F406D8FA}"/>
              </a:ext>
            </a:extLst>
          </p:cNvPr>
          <p:cNvSpPr txBox="1"/>
          <p:nvPr/>
        </p:nvSpPr>
        <p:spPr>
          <a:xfrm>
            <a:off x="406400" y="1803400"/>
            <a:ext cx="4851400" cy="12849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900" b="1">
                <a:solidFill>
                  <a:srgbClr val="111111"/>
                </a:solidFill>
                <a:latin typeface="Arial" panose="020B0604020202020204" pitchFamily="34" charset="0"/>
              </a:rPr>
              <a:t>1 · Học viên làm 3 câu hỏi tình huống</a:t>
            </a:r>
          </a:p>
          <a:p>
            <a:pPr>
              <a:spcAft>
                <a:spcPts val="300"/>
              </a:spcAft>
            </a:pPr>
            <a:r>
              <a:rPr lang="en-US" sz="1900" b="1">
                <a:solidFill>
                  <a:srgbClr val="111111"/>
                </a:solidFill>
                <a:latin typeface="Arial" panose="020B0604020202020204" pitchFamily="34" charset="0"/>
              </a:rPr>
              <a:t>2 · Hệ thống chỉ ra misconception</a:t>
            </a:r>
          </a:p>
          <a:p>
            <a:pPr>
              <a:spcAft>
                <a:spcPts val="300"/>
              </a:spcAft>
            </a:pPr>
            <a:r>
              <a:rPr lang="en-US" sz="1900" b="1">
                <a:solidFill>
                  <a:srgbClr val="111111"/>
                </a:solidFill>
                <a:latin typeface="Arial" panose="020B0604020202020204" pitchFamily="34" charset="0"/>
              </a:rPr>
              <a:t>3 · Kết quả gắn mã [Txx-xxx]</a:t>
            </a:r>
          </a:p>
          <a:p>
            <a:pPr>
              <a:spcAft>
                <a:spcPts val="300"/>
              </a:spcAft>
            </a:pPr>
            <a:r>
              <a:rPr lang="en-US" sz="1900" b="1">
                <a:solidFill>
                  <a:srgbClr val="111111"/>
                </a:solidFill>
                <a:latin typeface="Arial" panose="020B0604020202020204" pitchFamily="34" charset="0"/>
              </a:rPr>
              <a:t>4 · Học viên tự quyết định gửi TA</a:t>
            </a:r>
          </a:p>
        </p:txBody>
      </p:sp>
      <p:sp>
        <p:nvSpPr>
          <p:cNvPr id="4" name="s3-automation-label">
            <a:extLst>
              <a:ext uri="{FF2B5EF4-FFF2-40B4-BE49-F238E27FC236}">
                <a16:creationId xmlns:a16="http://schemas.microsoft.com/office/drawing/2014/main" id="{01ACF37E-09BB-1995-421F-C5D37B0B8BB1}"/>
              </a:ext>
            </a:extLst>
          </p:cNvPr>
          <p:cNvSpPr txBox="1"/>
          <p:nvPr/>
        </p:nvSpPr>
        <p:spPr>
          <a:xfrm>
            <a:off x="406400" y="4495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00" b="1">
                <a:solidFill>
                  <a:srgbClr val="FF6B35"/>
                </a:solidFill>
                <a:latin typeface="Arial" panose="020B0604020202020204" pitchFamily="34" charset="0"/>
              </a:rPr>
              <a:t>CONDITIONAL AUTOMATION</a:t>
            </a:r>
          </a:p>
        </p:txBody>
      </p:sp>
      <p:sp>
        <p:nvSpPr>
          <p:cNvPr id="5" name="s3-automation">
            <a:extLst>
              <a:ext uri="{FF2B5EF4-FFF2-40B4-BE49-F238E27FC236}">
                <a16:creationId xmlns:a16="http://schemas.microsoft.com/office/drawing/2014/main" id="{3291D402-B3BE-7D94-6029-8DE374480D01}"/>
              </a:ext>
            </a:extLst>
          </p:cNvPr>
          <p:cNvSpPr txBox="1"/>
          <p:nvPr/>
        </p:nvSpPr>
        <p:spPr>
          <a:xfrm>
            <a:off x="406400" y="4851400"/>
            <a:ext cx="48006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>
                <a:solidFill>
                  <a:srgbClr val="111111"/>
                </a:solidFill>
                <a:latin typeface="Arial" panose="020B0604020202020204" pitchFamily="34" charset="0"/>
              </a:rPr>
              <a:t>AI xử lý phần chắc chắn; chuyển TA chỉ xảy ra sau thao tác xác nhận của học viên.</a:t>
            </a:r>
          </a:p>
        </p:txBody>
      </p:sp>
      <p:sp>
        <p:nvSpPr>
          <p:cNvPr id="6" name="s3-prototype-surface">
            <a:extLst>
              <a:ext uri="{FF2B5EF4-FFF2-40B4-BE49-F238E27FC236}">
                <a16:creationId xmlns:a16="http://schemas.microsoft.com/office/drawing/2014/main" id="{E8CBC94F-8505-225C-844F-088E51CAB8FE}"/>
              </a:ext>
            </a:extLst>
          </p:cNvPr>
          <p:cNvSpPr/>
          <p:nvPr/>
        </p:nvSpPr>
        <p:spPr>
          <a:xfrm>
            <a:off x="5892800" y="1549400"/>
            <a:ext cx="5892800" cy="4292600"/>
          </a:xfrm>
          <a:prstGeom prst="rect">
            <a:avLst/>
          </a:prstGeom>
          <a:solidFill>
            <a:srgbClr val="EDEDED"/>
          </a:solidFill>
          <a:ln w="12700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3-demo-label">
            <a:extLst>
              <a:ext uri="{FF2B5EF4-FFF2-40B4-BE49-F238E27FC236}">
                <a16:creationId xmlns:a16="http://schemas.microsoft.com/office/drawing/2014/main" id="{62CE8CA5-5BCB-5C1A-873D-2D94A1DDA076}"/>
              </a:ext>
            </a:extLst>
          </p:cNvPr>
          <p:cNvSpPr txBox="1"/>
          <p:nvPr/>
        </p:nvSpPr>
        <p:spPr>
          <a:xfrm>
            <a:off x="6223000" y="18542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00" b="1">
                <a:solidFill>
                  <a:srgbClr val="FF6B35"/>
                </a:solidFill>
                <a:latin typeface="Arial" panose="020B0604020202020204" pitchFamily="34" charset="0"/>
              </a:rPr>
              <a:t>CASE DEMO · [T02-014]</a:t>
            </a:r>
          </a:p>
        </p:txBody>
      </p:sp>
      <p:sp>
        <p:nvSpPr>
          <p:cNvPr id="8" name="s3-question">
            <a:extLst>
              <a:ext uri="{FF2B5EF4-FFF2-40B4-BE49-F238E27FC236}">
                <a16:creationId xmlns:a16="http://schemas.microsoft.com/office/drawing/2014/main" id="{25770C5D-703B-F5FE-039C-64B6BB82B218}"/>
              </a:ext>
            </a:extLst>
          </p:cNvPr>
          <p:cNvSpPr txBox="1"/>
          <p:nvPr/>
        </p:nvSpPr>
        <p:spPr>
          <a:xfrm>
            <a:off x="6223000" y="2286000"/>
            <a:ext cx="50546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2100" b="1">
                <a:solidFill>
                  <a:srgbClr val="111111"/>
                </a:solidFill>
                <a:latin typeface="Arial" panose="020B0604020202020204" pitchFamily="34" charset="0"/>
              </a:rPr>
              <a:t>Automate và Augment khác nhau ở đâu?</a:t>
            </a:r>
          </a:p>
        </p:txBody>
      </p:sp>
      <p:sp>
        <p:nvSpPr>
          <p:cNvPr id="9" name="s3-answer-panel">
            <a:extLst>
              <a:ext uri="{FF2B5EF4-FFF2-40B4-BE49-F238E27FC236}">
                <a16:creationId xmlns:a16="http://schemas.microsoft.com/office/drawing/2014/main" id="{C2257856-5DA1-4A72-64A1-F08487D7BD1E}"/>
              </a:ext>
            </a:extLst>
          </p:cNvPr>
          <p:cNvSpPr/>
          <p:nvPr/>
        </p:nvSpPr>
        <p:spPr>
          <a:xfrm>
            <a:off x="6223000" y="3200400"/>
            <a:ext cx="50546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3-answer">
            <a:extLst>
              <a:ext uri="{FF2B5EF4-FFF2-40B4-BE49-F238E27FC236}">
                <a16:creationId xmlns:a16="http://schemas.microsoft.com/office/drawing/2014/main" id="{0A5EDEF5-45BA-6B47-2BF1-9A7FF14770FB}"/>
              </a:ext>
            </a:extLst>
          </p:cNvPr>
          <p:cNvSpPr txBox="1"/>
          <p:nvPr/>
        </p:nvSpPr>
        <p:spPr>
          <a:xfrm>
            <a:off x="6426200" y="3390900"/>
            <a:ext cx="4622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500">
                <a:solidFill>
                  <a:srgbClr val="111111"/>
                </a:solidFill>
                <a:latin typeface="Arial" panose="020B0604020202020204" pitchFamily="34" charset="0"/>
              </a:rPr>
              <a:t>Phát hiện nhầm lẫn: mức tự động hóa phải dựa trên cost-of-error, không chỉ dựa trên khả năng kỹ thuật.</a:t>
            </a:r>
          </a:p>
        </p:txBody>
      </p:sp>
      <p:sp>
        <p:nvSpPr>
          <p:cNvPr id="11" name="s3-ta-button">
            <a:extLst>
              <a:ext uri="{FF2B5EF4-FFF2-40B4-BE49-F238E27FC236}">
                <a16:creationId xmlns:a16="http://schemas.microsoft.com/office/drawing/2014/main" id="{5E1B3BFD-7C07-E3BA-D82B-185721E7D62F}"/>
              </a:ext>
            </a:extLst>
          </p:cNvPr>
          <p:cNvSpPr/>
          <p:nvPr/>
        </p:nvSpPr>
        <p:spPr>
          <a:xfrm>
            <a:off x="6223000" y="4622800"/>
            <a:ext cx="3429000" cy="609600"/>
          </a:xfrm>
          <a:prstGeom prst="rect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3-ta-button-label">
            <a:extLst>
              <a:ext uri="{FF2B5EF4-FFF2-40B4-BE49-F238E27FC236}">
                <a16:creationId xmlns:a16="http://schemas.microsoft.com/office/drawing/2014/main" id="{ABDBE5D0-25E9-FE51-DCD1-2424DD5460A3}"/>
              </a:ext>
            </a:extLst>
          </p:cNvPr>
          <p:cNvSpPr txBox="1"/>
          <p:nvPr/>
        </p:nvSpPr>
        <p:spPr>
          <a:xfrm>
            <a:off x="6426200" y="4800600"/>
            <a:ext cx="3022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Chuyển vùng slide cho TA</a:t>
            </a:r>
          </a:p>
        </p:txBody>
      </p:sp>
      <p:sp>
        <p:nvSpPr>
          <p:cNvPr id="13" name="source-3">
            <a:extLst>
              <a:ext uri="{FF2B5EF4-FFF2-40B4-BE49-F238E27FC236}">
                <a16:creationId xmlns:a16="http://schemas.microsoft.com/office/drawing/2014/main" id="{FEC0C173-2CA7-D5C4-4727-8B9944A1B52C}"/>
              </a:ext>
            </a:extLst>
          </p:cNvPr>
          <p:cNvSpPr txBox="1"/>
          <p:nvPr/>
        </p:nvSpPr>
        <p:spPr>
          <a:xfrm>
            <a:off x="406400" y="63500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900">
                <a:solidFill>
                  <a:srgbClr val="555555"/>
                </a:solidFill>
                <a:latin typeface="Arial" panose="020B0604020202020204" pitchFamily="34" charset="0"/>
              </a:rPr>
              <a:t>Nguồn: codebase/index.html · spec.md §4-§6</a:t>
            </a:r>
          </a:p>
        </p:txBody>
      </p:sp>
      <p:sp>
        <p:nvSpPr>
          <p:cNvPr id="14" name="page-3">
            <a:extLst>
              <a:ext uri="{FF2B5EF4-FFF2-40B4-BE49-F238E27FC236}">
                <a16:creationId xmlns:a16="http://schemas.microsoft.com/office/drawing/2014/main" id="{BC1F130D-6F1C-43D8-87A1-779AA1C306A7}"/>
              </a:ext>
            </a:extLst>
          </p:cNvPr>
          <p:cNvSpPr txBox="1"/>
          <p:nvPr/>
        </p:nvSpPr>
        <p:spPr>
          <a:xfrm>
            <a:off x="11150600" y="63246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sz="1000" b="1">
                <a:solidFill>
                  <a:srgbClr val="555555"/>
                </a:solidFill>
                <a:latin typeface="Arial" panose="020B0604020202020204" pitchFamily="34" charset="0"/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97717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-title">
            <a:extLst>
              <a:ext uri="{FF2B5EF4-FFF2-40B4-BE49-F238E27FC236}">
                <a16:creationId xmlns:a16="http://schemas.microsoft.com/office/drawing/2014/main" id="{983B2465-E594-22AE-C833-3554C00B1917}"/>
              </a:ext>
            </a:extLst>
          </p:cNvPr>
          <p:cNvSpPr txBox="1"/>
          <p:nvPr/>
        </p:nvSpPr>
        <p:spPr>
          <a:xfrm>
            <a:off x="406400" y="355600"/>
            <a:ext cx="113792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3400" b="1">
                <a:solidFill>
                  <a:srgbClr val="111111"/>
                </a:solidFill>
                <a:latin typeface="Arial" panose="020B0604020202020204" pitchFamily="34" charset="0"/>
              </a:rPr>
              <a:t>Bộ đo 5/20 case chưa đủ để kết luận chất lượng</a:t>
            </a:r>
            <a:endParaRPr 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3" name="s4-label-a">
            <a:extLst>
              <a:ext uri="{FF2B5EF4-FFF2-40B4-BE49-F238E27FC236}">
                <a16:creationId xmlns:a16="http://schemas.microsoft.com/office/drawing/2014/main" id="{B6F708A5-C742-C59F-011B-B62B6EB16BFC}"/>
              </a:ext>
            </a:extLst>
          </p:cNvPr>
          <p:cNvSpPr txBox="1"/>
          <p:nvPr/>
        </p:nvSpPr>
        <p:spPr>
          <a:xfrm>
            <a:off x="406400" y="2997200"/>
            <a:ext cx="3429000" cy="5001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500">
                <a:solidFill>
                  <a:srgbClr val="555555"/>
                </a:solidFill>
                <a:latin typeface="Arial" panose="020B0604020202020204" pitchFamily="34" charset="0"/>
              </a:rPr>
              <a:t>BAR ĐÃ CHỐT</a:t>
            </a:r>
          </a:p>
          <a:p>
            <a:pPr>
              <a:spcAft>
                <a:spcPts val="300"/>
              </a:spcAft>
            </a:pPr>
            <a:r>
              <a:rPr lang="en-US" sz="1500">
                <a:solidFill>
                  <a:srgbClr val="555555"/>
                </a:solidFill>
                <a:latin typeface="Arial" panose="020B0604020202020204" pitchFamily="34" charset="0"/>
              </a:rPr>
              <a:t>Đúng misconception và trích dẫn</a:t>
            </a:r>
          </a:p>
        </p:txBody>
      </p:sp>
      <p:sp>
        <p:nvSpPr>
          <p:cNvPr id="4" name="s4-label-b">
            <a:extLst>
              <a:ext uri="{FF2B5EF4-FFF2-40B4-BE49-F238E27FC236}">
                <a16:creationId xmlns:a16="http://schemas.microsoft.com/office/drawing/2014/main" id="{9F2A23E6-E477-DEBF-8E7C-0EC80BD1852B}"/>
              </a:ext>
            </a:extLst>
          </p:cNvPr>
          <p:cNvSpPr txBox="1"/>
          <p:nvPr/>
        </p:nvSpPr>
        <p:spPr>
          <a:xfrm>
            <a:off x="4305300" y="2997200"/>
            <a:ext cx="3429000" cy="5001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500">
                <a:solidFill>
                  <a:srgbClr val="555555"/>
                </a:solidFill>
                <a:latin typeface="Arial" panose="020B0604020202020204" pitchFamily="34" charset="0"/>
              </a:rPr>
              <a:t>ĐỘ PHỦ HIỆN TẠI</a:t>
            </a:r>
          </a:p>
          <a:p>
            <a:pPr>
              <a:spcAft>
                <a:spcPts val="300"/>
              </a:spcAft>
            </a:pPr>
            <a:r>
              <a:rPr lang="en-US" sz="1500">
                <a:solidFill>
                  <a:srgbClr val="555555"/>
                </a:solidFill>
                <a:latin typeface="Arial" panose="020B0604020202020204" pitchFamily="34" charset="0"/>
              </a:rPr>
              <a:t>Cần mở rộng đủ 4 lớp rủi ro</a:t>
            </a:r>
          </a:p>
        </p:txBody>
      </p:sp>
      <p:sp>
        <p:nvSpPr>
          <p:cNvPr id="5" name="s4-label-c">
            <a:extLst>
              <a:ext uri="{FF2B5EF4-FFF2-40B4-BE49-F238E27FC236}">
                <a16:creationId xmlns:a16="http://schemas.microsoft.com/office/drawing/2014/main" id="{25F80949-7B38-9004-0CD0-8522E9E26EF2}"/>
              </a:ext>
            </a:extLst>
          </p:cNvPr>
          <p:cNvSpPr txBox="1"/>
          <p:nvPr/>
        </p:nvSpPr>
        <p:spPr>
          <a:xfrm>
            <a:off x="8229600" y="2997200"/>
            <a:ext cx="3429000" cy="5001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1500">
                <a:solidFill>
                  <a:srgbClr val="555555"/>
                </a:solidFill>
                <a:latin typeface="Arial" panose="020B0604020202020204" pitchFamily="34" charset="0"/>
              </a:rPr>
              <a:t>LƯỢT CHẠY TRỌN BỘ</a:t>
            </a:r>
          </a:p>
          <a:p>
            <a:pPr>
              <a:spcAft>
                <a:spcPts val="300"/>
              </a:spcAft>
            </a:pPr>
            <a:r>
              <a:rPr lang="vi-VN" sz="1500">
                <a:solidFill>
                  <a:srgbClr val="555555"/>
                </a:solidFill>
                <a:latin typeface="Arial" panose="020B0604020202020204" pitchFamily="34" charset="0"/>
              </a:rPr>
              <a:t>Chưa có bảng kết quả trong eval/</a:t>
            </a:r>
            <a:endParaRPr lang="en-US" sz="150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  <p:sp>
        <p:nvSpPr>
          <p:cNvPr id="6" name="s4-stat-a">
            <a:extLst>
              <a:ext uri="{FF2B5EF4-FFF2-40B4-BE49-F238E27FC236}">
                <a16:creationId xmlns:a16="http://schemas.microsoft.com/office/drawing/2014/main" id="{0A8F6C29-0F8F-6342-FEB2-1EFBE645E53D}"/>
              </a:ext>
            </a:extLst>
          </p:cNvPr>
          <p:cNvSpPr txBox="1"/>
          <p:nvPr/>
        </p:nvSpPr>
        <p:spPr>
          <a:xfrm>
            <a:off x="406400" y="4191000"/>
            <a:ext cx="3429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5400" b="1">
                <a:solidFill>
                  <a:srgbClr val="FF6B35"/>
                </a:solidFill>
                <a:latin typeface="Arial" panose="020B0604020202020204" pitchFamily="34" charset="0"/>
              </a:rPr>
              <a:t>85%</a:t>
            </a:r>
          </a:p>
        </p:txBody>
      </p:sp>
      <p:sp>
        <p:nvSpPr>
          <p:cNvPr id="7" name="s4-stat-b">
            <a:extLst>
              <a:ext uri="{FF2B5EF4-FFF2-40B4-BE49-F238E27FC236}">
                <a16:creationId xmlns:a16="http://schemas.microsoft.com/office/drawing/2014/main" id="{B972A079-F945-BE48-E3B3-9BC81AD0D6EF}"/>
              </a:ext>
            </a:extLst>
          </p:cNvPr>
          <p:cNvSpPr txBox="1"/>
          <p:nvPr/>
        </p:nvSpPr>
        <p:spPr>
          <a:xfrm>
            <a:off x="4305300" y="4191000"/>
            <a:ext cx="3429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5400" b="1">
                <a:solidFill>
                  <a:srgbClr val="111111"/>
                </a:solidFill>
                <a:latin typeface="Arial" panose="020B0604020202020204" pitchFamily="34" charset="0"/>
              </a:rPr>
              <a:t>5/20</a:t>
            </a:r>
          </a:p>
        </p:txBody>
      </p:sp>
      <p:sp>
        <p:nvSpPr>
          <p:cNvPr id="8" name="s4-stat-c">
            <a:extLst>
              <a:ext uri="{FF2B5EF4-FFF2-40B4-BE49-F238E27FC236}">
                <a16:creationId xmlns:a16="http://schemas.microsoft.com/office/drawing/2014/main" id="{22F6797F-31B1-EAFD-F0D9-10F2B74FF41C}"/>
              </a:ext>
            </a:extLst>
          </p:cNvPr>
          <p:cNvSpPr txBox="1"/>
          <p:nvPr/>
        </p:nvSpPr>
        <p:spPr>
          <a:xfrm>
            <a:off x="8229600" y="4191000"/>
            <a:ext cx="3429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5400" b="1">
                <a:solidFill>
                  <a:srgbClr val="111111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9" name="s4-failure">
            <a:extLst>
              <a:ext uri="{FF2B5EF4-FFF2-40B4-BE49-F238E27FC236}">
                <a16:creationId xmlns:a16="http://schemas.microsoft.com/office/drawing/2014/main" id="{C6812A6B-13B9-3685-8071-EBA8579BE893}"/>
              </a:ext>
            </a:extLst>
          </p:cNvPr>
          <p:cNvSpPr txBox="1"/>
          <p:nvPr/>
        </p:nvSpPr>
        <p:spPr>
          <a:xfrm>
            <a:off x="406400" y="5765800"/>
            <a:ext cx="1028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b="1">
                <a:solidFill>
                  <a:srgbClr val="111111"/>
                </a:solidFill>
                <a:latin typeface="Arial" panose="020B0604020202020204" pitchFamily="34" charset="0"/>
              </a:rPr>
              <a:t>Failure lớn nhất hiện tại là thiếu bằng chứng đo, không phải một case AI cụ thể.</a:t>
            </a:r>
          </a:p>
        </p:txBody>
      </p:sp>
      <p:sp>
        <p:nvSpPr>
          <p:cNvPr id="10" name="source-4">
            <a:extLst>
              <a:ext uri="{FF2B5EF4-FFF2-40B4-BE49-F238E27FC236}">
                <a16:creationId xmlns:a16="http://schemas.microsoft.com/office/drawing/2014/main" id="{FD820480-EE53-15CD-8DEF-764E7BF5C5E1}"/>
              </a:ext>
            </a:extLst>
          </p:cNvPr>
          <p:cNvSpPr txBox="1"/>
          <p:nvPr/>
        </p:nvSpPr>
        <p:spPr>
          <a:xfrm>
            <a:off x="406400" y="63500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900">
                <a:solidFill>
                  <a:srgbClr val="555555"/>
                </a:solidFill>
                <a:latin typeface="Arial" panose="020B0604020202020204" pitchFamily="34" charset="0"/>
              </a:rPr>
              <a:t>Nguồn: eval/golden_set.json · spec.md §7</a:t>
            </a:r>
          </a:p>
        </p:txBody>
      </p:sp>
      <p:sp>
        <p:nvSpPr>
          <p:cNvPr id="11" name="page-4">
            <a:extLst>
              <a:ext uri="{FF2B5EF4-FFF2-40B4-BE49-F238E27FC236}">
                <a16:creationId xmlns:a16="http://schemas.microsoft.com/office/drawing/2014/main" id="{48000DFD-93DE-B17A-348A-886864BC2F88}"/>
              </a:ext>
            </a:extLst>
          </p:cNvPr>
          <p:cNvSpPr txBox="1"/>
          <p:nvPr/>
        </p:nvSpPr>
        <p:spPr>
          <a:xfrm>
            <a:off x="11150600" y="63246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sz="1000" b="1">
                <a:solidFill>
                  <a:srgbClr val="555555"/>
                </a:solidFill>
                <a:latin typeface="Arial" panose="020B0604020202020204" pitchFamily="34" charset="0"/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2384765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-title">
            <a:extLst>
              <a:ext uri="{FF2B5EF4-FFF2-40B4-BE49-F238E27FC236}">
                <a16:creationId xmlns:a16="http://schemas.microsoft.com/office/drawing/2014/main" id="{8475D474-D1A8-D632-F7D7-A351910A9825}"/>
              </a:ext>
            </a:extLst>
          </p:cNvPr>
          <p:cNvSpPr txBox="1"/>
          <p:nvPr/>
        </p:nvSpPr>
        <p:spPr>
          <a:xfrm>
            <a:off x="406400" y="355600"/>
            <a:ext cx="113792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3400" b="1">
                <a:solidFill>
                  <a:srgbClr val="111111"/>
                </a:solidFill>
                <a:latin typeface="Arial" panose="020B0604020202020204" pitchFamily="34" charset="0"/>
              </a:rPr>
              <a:t>Quiz ngắn, gửi TA do người học quyết định</a:t>
            </a:r>
            <a:endParaRPr 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3" name="s5-subtitle">
            <a:extLst>
              <a:ext uri="{FF2B5EF4-FFF2-40B4-BE49-F238E27FC236}">
                <a16:creationId xmlns:a16="http://schemas.microsoft.com/office/drawing/2014/main" id="{FF3B7977-DE5C-CC98-DB3F-EE1D161A5472}"/>
              </a:ext>
            </a:extLst>
          </p:cNvPr>
          <p:cNvSpPr txBox="1"/>
          <p:nvPr/>
        </p:nvSpPr>
        <p:spPr>
          <a:xfrm>
            <a:off x="406400" y="1371600"/>
            <a:ext cx="1066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1700">
                <a:solidFill>
                  <a:srgbClr val="555555"/>
                </a:solidFill>
                <a:latin typeface="Arial" panose="020B0604020202020204" pitchFamily="34" charset="0"/>
              </a:rPr>
              <a:t>20/24 sẵn sàng làm Quiz nếu ngắn · 9/24 muốn được hỏi trước khi gửi</a:t>
            </a:r>
            <a:endParaRPr lang="en-US" sz="170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  <p:sp>
        <p:nvSpPr>
          <p:cNvPr id="4" name="s5-quote-a-panel">
            <a:extLst>
              <a:ext uri="{FF2B5EF4-FFF2-40B4-BE49-F238E27FC236}">
                <a16:creationId xmlns:a16="http://schemas.microsoft.com/office/drawing/2014/main" id="{6F5EC3EE-61C3-3A8C-CD8C-1A6173237C38}"/>
              </a:ext>
            </a:extLst>
          </p:cNvPr>
          <p:cNvSpPr/>
          <p:nvPr/>
        </p:nvSpPr>
        <p:spPr>
          <a:xfrm>
            <a:off x="406400" y="2184400"/>
            <a:ext cx="5524500" cy="16256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5-quote-a-label">
            <a:extLst>
              <a:ext uri="{FF2B5EF4-FFF2-40B4-BE49-F238E27FC236}">
                <a16:creationId xmlns:a16="http://schemas.microsoft.com/office/drawing/2014/main" id="{779B9FA9-6176-1C73-E5AA-B741B048662C}"/>
              </a:ext>
            </a:extLst>
          </p:cNvPr>
          <p:cNvSpPr txBox="1"/>
          <p:nvPr/>
        </p:nvSpPr>
        <p:spPr>
          <a:xfrm>
            <a:off x="711200" y="24892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00" b="1">
                <a:solidFill>
                  <a:srgbClr val="FF6B35"/>
                </a:solidFill>
                <a:latin typeface="Arial" panose="020B0604020202020204" pitchFamily="34" charset="0"/>
              </a:rPr>
              <a:t>GF-4 · 30/07/2026</a:t>
            </a:r>
          </a:p>
        </p:txBody>
      </p:sp>
      <p:sp>
        <p:nvSpPr>
          <p:cNvPr id="6" name="s5-quote-a">
            <a:extLst>
              <a:ext uri="{FF2B5EF4-FFF2-40B4-BE49-F238E27FC236}">
                <a16:creationId xmlns:a16="http://schemas.microsoft.com/office/drawing/2014/main" id="{7D260EBA-6DFC-C0E5-B90B-D85863636B62}"/>
              </a:ext>
            </a:extLst>
          </p:cNvPr>
          <p:cNvSpPr txBox="1"/>
          <p:nvPr/>
        </p:nvSpPr>
        <p:spPr>
          <a:xfrm>
            <a:off x="711200" y="2895600"/>
            <a:ext cx="49022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1900" b="1">
                <a:solidFill>
                  <a:srgbClr val="111111"/>
                </a:solidFill>
                <a:latin typeface="Arial" panose="020B0604020202020204" pitchFamily="34" charset="0"/>
              </a:rPr>
              <a:t>“Cần hệ thống hỏi ý kiến trước khi chuyển cho giảng viên.”</a:t>
            </a:r>
            <a:endParaRPr lang="en-US" sz="19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7" name="s5-quote-b-panel">
            <a:extLst>
              <a:ext uri="{FF2B5EF4-FFF2-40B4-BE49-F238E27FC236}">
                <a16:creationId xmlns:a16="http://schemas.microsoft.com/office/drawing/2014/main" id="{13F33A31-4906-5FD5-30D5-108F6868CDA1}"/>
              </a:ext>
            </a:extLst>
          </p:cNvPr>
          <p:cNvSpPr/>
          <p:nvPr/>
        </p:nvSpPr>
        <p:spPr>
          <a:xfrm>
            <a:off x="6261100" y="2184400"/>
            <a:ext cx="5524500" cy="16256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5-quote-b-label">
            <a:extLst>
              <a:ext uri="{FF2B5EF4-FFF2-40B4-BE49-F238E27FC236}">
                <a16:creationId xmlns:a16="http://schemas.microsoft.com/office/drawing/2014/main" id="{C3C43F07-22BF-EFEE-7B0F-000F1423D114}"/>
              </a:ext>
            </a:extLst>
          </p:cNvPr>
          <p:cNvSpPr txBox="1"/>
          <p:nvPr/>
        </p:nvSpPr>
        <p:spPr>
          <a:xfrm>
            <a:off x="6565900" y="24892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00" b="1">
                <a:solidFill>
                  <a:srgbClr val="FF6B35"/>
                </a:solidFill>
                <a:latin typeface="Arial" panose="020B0604020202020204" pitchFamily="34" charset="0"/>
              </a:rPr>
              <a:t>GF-6 · 30/07/2026</a:t>
            </a:r>
          </a:p>
        </p:txBody>
      </p:sp>
      <p:sp>
        <p:nvSpPr>
          <p:cNvPr id="9" name="s5-quote-b">
            <a:extLst>
              <a:ext uri="{FF2B5EF4-FFF2-40B4-BE49-F238E27FC236}">
                <a16:creationId xmlns:a16="http://schemas.microsoft.com/office/drawing/2014/main" id="{78935C87-E91A-3FD5-C997-EA51A9BE0A43}"/>
              </a:ext>
            </a:extLst>
          </p:cNvPr>
          <p:cNvSpPr txBox="1"/>
          <p:nvPr/>
        </p:nvSpPr>
        <p:spPr>
          <a:xfrm>
            <a:off x="6565900" y="2895600"/>
            <a:ext cx="4902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900" b="1">
                <a:solidFill>
                  <a:srgbClr val="111111"/>
                </a:solidFill>
                <a:latin typeface="Arial" panose="020B0604020202020204" pitchFamily="34" charset="0"/>
              </a:rPr>
              <a:t>“Sẵn sàng nếu bài Quiz thực sự ngắn.”</a:t>
            </a:r>
          </a:p>
        </p:txBody>
      </p:sp>
      <p:sp>
        <p:nvSpPr>
          <p:cNvPr id="10" name="s5-decision-label">
            <a:extLst>
              <a:ext uri="{FF2B5EF4-FFF2-40B4-BE49-F238E27FC236}">
                <a16:creationId xmlns:a16="http://schemas.microsoft.com/office/drawing/2014/main" id="{CF18418C-CCDD-5B8D-09F9-442F5B352964}"/>
              </a:ext>
            </a:extLst>
          </p:cNvPr>
          <p:cNvSpPr txBox="1"/>
          <p:nvPr/>
        </p:nvSpPr>
        <p:spPr>
          <a:xfrm>
            <a:off x="406400" y="4495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00" b="1">
                <a:solidFill>
                  <a:srgbClr val="555555"/>
                </a:solidFill>
                <a:latin typeface="Arial" panose="020B0604020202020204" pitchFamily="34" charset="0"/>
              </a:rPr>
              <a:t>QUYẾT ĐỊNH THIẾT KẾ</a:t>
            </a:r>
          </a:p>
        </p:txBody>
      </p:sp>
      <p:sp>
        <p:nvSpPr>
          <p:cNvPr id="11" name="s5-decision">
            <a:extLst>
              <a:ext uri="{FF2B5EF4-FFF2-40B4-BE49-F238E27FC236}">
                <a16:creationId xmlns:a16="http://schemas.microsoft.com/office/drawing/2014/main" id="{6D1729C0-87FD-915A-478B-0E7532B8C937}"/>
              </a:ext>
            </a:extLst>
          </p:cNvPr>
          <p:cNvSpPr txBox="1"/>
          <p:nvPr/>
        </p:nvSpPr>
        <p:spPr>
          <a:xfrm>
            <a:off x="406400" y="4927600"/>
            <a:ext cx="10414000" cy="6540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b="1">
                <a:solidFill>
                  <a:srgbClr val="111111"/>
                </a:solidFill>
                <a:latin typeface="Arial" panose="020B0604020202020204" pitchFamily="34" charset="0"/>
              </a:rPr>
              <a:t>Giới hạn quiz ở 3 câu.</a:t>
            </a:r>
          </a:p>
          <a:p>
            <a:pPr>
              <a:spcAft>
                <a:spcPts val="300"/>
              </a:spcAft>
            </a:pPr>
            <a:r>
              <a:rPr lang="en-US" sz="2000" b="1">
                <a:solidFill>
                  <a:srgbClr val="111111"/>
                </a:solidFill>
                <a:latin typeface="Arial" panose="020B0604020202020204" pitchFamily="34" charset="0"/>
              </a:rPr>
              <a:t>Chuyển TA bằng nút chủ động, không tự động gửi.</a:t>
            </a:r>
          </a:p>
        </p:txBody>
      </p:sp>
      <p:sp>
        <p:nvSpPr>
          <p:cNvPr id="12" name="source-5">
            <a:extLst>
              <a:ext uri="{FF2B5EF4-FFF2-40B4-BE49-F238E27FC236}">
                <a16:creationId xmlns:a16="http://schemas.microsoft.com/office/drawing/2014/main" id="{6DD837F3-41AD-7154-9432-A19AE1E29F3E}"/>
              </a:ext>
            </a:extLst>
          </p:cNvPr>
          <p:cNvSpPr txBox="1"/>
          <p:nvPr/>
        </p:nvSpPr>
        <p:spPr>
          <a:xfrm>
            <a:off x="406400" y="63500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900">
                <a:solidFill>
                  <a:srgbClr val="555555"/>
                </a:solidFill>
                <a:latin typeface="Arial" panose="020B0604020202020204" pitchFamily="34" charset="0"/>
              </a:rPr>
              <a:t>Nguồn: validation/feedback_log.md · Google Form N=24 (khảo sát trước usability test)</a:t>
            </a:r>
            <a:endParaRPr lang="en-US" sz="90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  <p:sp>
        <p:nvSpPr>
          <p:cNvPr id="13" name="page-5">
            <a:extLst>
              <a:ext uri="{FF2B5EF4-FFF2-40B4-BE49-F238E27FC236}">
                <a16:creationId xmlns:a16="http://schemas.microsoft.com/office/drawing/2014/main" id="{1BFD7535-7FA0-29AC-82B6-6B1DFEF26B6B}"/>
              </a:ext>
            </a:extLst>
          </p:cNvPr>
          <p:cNvSpPr txBox="1"/>
          <p:nvPr/>
        </p:nvSpPr>
        <p:spPr>
          <a:xfrm>
            <a:off x="11150600" y="63246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sz="1000" b="1">
                <a:solidFill>
                  <a:srgbClr val="555555"/>
                </a:solidFill>
                <a:latin typeface="Arial" panose="020B0604020202020204" pitchFamily="34" charset="0"/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3563966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-title">
            <a:extLst>
              <a:ext uri="{FF2B5EF4-FFF2-40B4-BE49-F238E27FC236}">
                <a16:creationId xmlns:a16="http://schemas.microsoft.com/office/drawing/2014/main" id="{70BAFD40-FC70-3E20-741A-80939ABC6738}"/>
              </a:ext>
            </a:extLst>
          </p:cNvPr>
          <p:cNvSpPr txBox="1"/>
          <p:nvPr/>
        </p:nvSpPr>
        <p:spPr>
          <a:xfrm>
            <a:off x="406400" y="355600"/>
            <a:ext cx="113792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Một tuần nữa: đo đủ, test thật, gọi AI thật</a:t>
            </a:r>
          </a:p>
        </p:txBody>
      </p:sp>
      <p:cxnSp>
        <p:nvCxnSpPr>
          <p:cNvPr id="3" name="s6-line">
            <a:extLst>
              <a:ext uri="{FF2B5EF4-FFF2-40B4-BE49-F238E27FC236}">
                <a16:creationId xmlns:a16="http://schemas.microsoft.com/office/drawing/2014/main" id="{749E1D6B-6FAF-39A2-7C42-1F8EAA79154B}"/>
              </a:ext>
            </a:extLst>
          </p:cNvPr>
          <p:cNvCxnSpPr/>
          <p:nvPr/>
        </p:nvCxnSpPr>
        <p:spPr>
          <a:xfrm>
            <a:off x="406400" y="3098800"/>
            <a:ext cx="1137920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F36C438-60B0-FD81-2471-5DCA0DE9C5F9}"/>
              </a:ext>
            </a:extLst>
          </p:cNvPr>
          <p:cNvSpPr/>
          <p:nvPr/>
        </p:nvSpPr>
        <p:spPr>
          <a:xfrm>
            <a:off x="406400" y="3009900"/>
            <a:ext cx="177800" cy="177800"/>
          </a:xfrm>
          <a:prstGeom prst="ellipse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113706-EEC1-0414-D50C-B3E7B29AE538}"/>
              </a:ext>
            </a:extLst>
          </p:cNvPr>
          <p:cNvSpPr/>
          <p:nvPr/>
        </p:nvSpPr>
        <p:spPr>
          <a:xfrm>
            <a:off x="4305300" y="3009900"/>
            <a:ext cx="177800" cy="177800"/>
          </a:xfrm>
          <a:prstGeom prst="ellipse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B50390-5593-C56E-9825-DD3FC6A5B94E}"/>
              </a:ext>
            </a:extLst>
          </p:cNvPr>
          <p:cNvSpPr/>
          <p:nvPr/>
        </p:nvSpPr>
        <p:spPr>
          <a:xfrm>
            <a:off x="8229600" y="3009900"/>
            <a:ext cx="177800" cy="177800"/>
          </a:xfrm>
          <a:prstGeom prst="ellipse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6-label-a">
            <a:extLst>
              <a:ext uri="{FF2B5EF4-FFF2-40B4-BE49-F238E27FC236}">
                <a16:creationId xmlns:a16="http://schemas.microsoft.com/office/drawing/2014/main" id="{8BD1455F-548E-CD8E-5741-FBA819682C9F}"/>
              </a:ext>
            </a:extLst>
          </p:cNvPr>
          <p:cNvSpPr txBox="1"/>
          <p:nvPr/>
        </p:nvSpPr>
        <p:spPr>
          <a:xfrm>
            <a:off x="406400" y="2489200"/>
            <a:ext cx="190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1100" b="1">
                <a:solidFill>
                  <a:srgbClr val="FF6B35"/>
                </a:solidFill>
                <a:latin typeface="Arial" panose="020B0604020202020204" pitchFamily="34" charset="0"/>
              </a:rPr>
              <a:t>ƯU TIÊN 1</a:t>
            </a:r>
            <a:endParaRPr lang="en-US" sz="1100" b="1">
              <a:solidFill>
                <a:srgbClr val="FF6B35"/>
              </a:solidFill>
              <a:latin typeface="Arial" panose="020B0604020202020204" pitchFamily="34" charset="0"/>
            </a:endParaRPr>
          </a:p>
        </p:txBody>
      </p:sp>
      <p:sp>
        <p:nvSpPr>
          <p:cNvPr id="8" name="s6-label-b">
            <a:extLst>
              <a:ext uri="{FF2B5EF4-FFF2-40B4-BE49-F238E27FC236}">
                <a16:creationId xmlns:a16="http://schemas.microsoft.com/office/drawing/2014/main" id="{B7C6FBA3-AC12-C82E-F1B7-CC3834A23E23}"/>
              </a:ext>
            </a:extLst>
          </p:cNvPr>
          <p:cNvSpPr txBox="1"/>
          <p:nvPr/>
        </p:nvSpPr>
        <p:spPr>
          <a:xfrm>
            <a:off x="4305300" y="2489200"/>
            <a:ext cx="190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1100" b="1">
                <a:solidFill>
                  <a:srgbClr val="FF6B35"/>
                </a:solidFill>
                <a:latin typeface="Arial" panose="020B0604020202020204" pitchFamily="34" charset="0"/>
              </a:rPr>
              <a:t>ƯU TIÊN 2</a:t>
            </a:r>
            <a:endParaRPr lang="en-US" sz="1100" b="1">
              <a:solidFill>
                <a:srgbClr val="FF6B35"/>
              </a:solidFill>
              <a:latin typeface="Arial" panose="020B0604020202020204" pitchFamily="34" charset="0"/>
            </a:endParaRPr>
          </a:p>
        </p:txBody>
      </p:sp>
      <p:sp>
        <p:nvSpPr>
          <p:cNvPr id="9" name="s6-label-c">
            <a:extLst>
              <a:ext uri="{FF2B5EF4-FFF2-40B4-BE49-F238E27FC236}">
                <a16:creationId xmlns:a16="http://schemas.microsoft.com/office/drawing/2014/main" id="{E6F86CC4-DE71-8E14-5141-4ACCDB7B369E}"/>
              </a:ext>
            </a:extLst>
          </p:cNvPr>
          <p:cNvSpPr txBox="1"/>
          <p:nvPr/>
        </p:nvSpPr>
        <p:spPr>
          <a:xfrm>
            <a:off x="8229600" y="2489200"/>
            <a:ext cx="190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 sz="1100" b="1">
                <a:solidFill>
                  <a:srgbClr val="FF6B35"/>
                </a:solidFill>
                <a:latin typeface="Arial" panose="020B0604020202020204" pitchFamily="34" charset="0"/>
              </a:rPr>
              <a:t>ƯU TIÊN 3</a:t>
            </a:r>
            <a:endParaRPr lang="en-US" sz="1100" b="1">
              <a:solidFill>
                <a:srgbClr val="FF6B35"/>
              </a:solidFill>
              <a:latin typeface="Arial" panose="020B0604020202020204" pitchFamily="34" charset="0"/>
            </a:endParaRPr>
          </a:p>
        </p:txBody>
      </p:sp>
      <p:sp>
        <p:nvSpPr>
          <p:cNvPr id="10" name="s6-body-a">
            <a:extLst>
              <a:ext uri="{FF2B5EF4-FFF2-40B4-BE49-F238E27FC236}">
                <a16:creationId xmlns:a16="http://schemas.microsoft.com/office/drawing/2014/main" id="{82988703-CB4B-8601-13F3-9CDCAA142C04}"/>
              </a:ext>
            </a:extLst>
          </p:cNvPr>
          <p:cNvSpPr txBox="1"/>
          <p:nvPr/>
        </p:nvSpPr>
        <p:spPr>
          <a:xfrm>
            <a:off x="406400" y="3530600"/>
            <a:ext cx="3200400" cy="8694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>
                <a:solidFill>
                  <a:srgbClr val="111111"/>
                </a:solidFill>
                <a:latin typeface="Arial" panose="020B0604020202020204" pitchFamily="34" charset="0"/>
              </a:rPr>
              <a:t>Đo đủ 20+ case</a:t>
            </a:r>
          </a:p>
          <a:p>
            <a:pPr>
              <a:spcAft>
                <a:spcPts val="300"/>
              </a:spcAft>
            </a:pPr>
            <a:r>
              <a:rPr lang="en-US">
                <a:solidFill>
                  <a:srgbClr val="111111"/>
                </a:solidFill>
                <a:latin typeface="Arial" panose="020B0604020202020204" pitchFamily="34" charset="0"/>
              </a:rPr>
              <a:t>Chạy trọn bộ và phân tích failure lớn nhất.</a:t>
            </a:r>
          </a:p>
        </p:txBody>
      </p:sp>
      <p:sp>
        <p:nvSpPr>
          <p:cNvPr id="11" name="s6-body-b">
            <a:extLst>
              <a:ext uri="{FF2B5EF4-FFF2-40B4-BE49-F238E27FC236}">
                <a16:creationId xmlns:a16="http://schemas.microsoft.com/office/drawing/2014/main" id="{0C924D1E-9A11-41C1-F493-FBCCA6143B10}"/>
              </a:ext>
            </a:extLst>
          </p:cNvPr>
          <p:cNvSpPr txBox="1"/>
          <p:nvPr/>
        </p:nvSpPr>
        <p:spPr>
          <a:xfrm>
            <a:off x="4305300" y="3530600"/>
            <a:ext cx="3200400" cy="8694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>
                <a:solidFill>
                  <a:srgbClr val="111111"/>
                </a:solidFill>
                <a:latin typeface="Arial" panose="020B0604020202020204" pitchFamily="34" charset="0"/>
              </a:rPr>
              <a:t>Test với 5 người</a:t>
            </a:r>
          </a:p>
          <a:p>
            <a:pPr>
              <a:spcAft>
                <a:spcPts val="300"/>
              </a:spcAft>
            </a:pPr>
            <a:r>
              <a:rPr lang="vi-VN">
                <a:solidFill>
                  <a:srgbClr val="111111"/>
                </a:solidFill>
                <a:latin typeface="Arial" panose="020B0604020202020204" pitchFamily="34" charset="0"/>
              </a:rPr>
              <a:t>Ghi thao tác, quote nguyên văn và mức nghiêm trọng.</a:t>
            </a:r>
            <a:endParaRPr lang="en-US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2" name="s6-body-c">
            <a:extLst>
              <a:ext uri="{FF2B5EF4-FFF2-40B4-BE49-F238E27FC236}">
                <a16:creationId xmlns:a16="http://schemas.microsoft.com/office/drawing/2014/main" id="{F94F6727-5918-BCF2-0FC5-E3CE23ABB558}"/>
              </a:ext>
            </a:extLst>
          </p:cNvPr>
          <p:cNvSpPr txBox="1"/>
          <p:nvPr/>
        </p:nvSpPr>
        <p:spPr>
          <a:xfrm>
            <a:off x="8229600" y="3530600"/>
            <a:ext cx="3200400" cy="8694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vi-VN">
                <a:solidFill>
                  <a:srgbClr val="111111"/>
                </a:solidFill>
                <a:latin typeface="Arial" panose="020B0604020202020204" pitchFamily="34" charset="0"/>
              </a:rPr>
              <a:t>Thay mock bằng AI thật</a:t>
            </a:r>
          </a:p>
          <a:p>
            <a:pPr>
              <a:spcAft>
                <a:spcPts val="300"/>
              </a:spcAft>
            </a:pPr>
            <a:r>
              <a:rPr lang="vi-VN">
                <a:solidFill>
                  <a:srgbClr val="111111"/>
                </a:solidFill>
                <a:latin typeface="Arial" panose="020B0604020202020204" pitchFamily="34" charset="0"/>
              </a:rPr>
              <a:t>Lưu trace và giữ đường lui khi không có căn cứ.</a:t>
            </a:r>
            <a:endParaRPr lang="en-US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3" name="s6-lesson">
            <a:extLst>
              <a:ext uri="{FF2B5EF4-FFF2-40B4-BE49-F238E27FC236}">
                <a16:creationId xmlns:a16="http://schemas.microsoft.com/office/drawing/2014/main" id="{884DF6F3-533E-EB3B-11AA-AF99807527CB}"/>
              </a:ext>
            </a:extLst>
          </p:cNvPr>
          <p:cNvSpPr txBox="1"/>
          <p:nvPr/>
        </p:nvSpPr>
        <p:spPr>
          <a:xfrm>
            <a:off x="406400" y="5384800"/>
            <a:ext cx="1092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2100" b="1">
                <a:solidFill>
                  <a:srgbClr val="111111"/>
                </a:solidFill>
                <a:latin typeface="Arial" panose="020B0604020202020204" pitchFamily="34" charset="0"/>
              </a:rPr>
              <a:t>Bài học lớn nhất: bằng chứng phải khớp đúng câu hỏi cần trả lời.</a:t>
            </a:r>
          </a:p>
        </p:txBody>
      </p:sp>
      <p:sp>
        <p:nvSpPr>
          <p:cNvPr id="14" name="source-6">
            <a:extLst>
              <a:ext uri="{FF2B5EF4-FFF2-40B4-BE49-F238E27FC236}">
                <a16:creationId xmlns:a16="http://schemas.microsoft.com/office/drawing/2014/main" id="{F9375995-B3BF-4B69-B19B-3C2251821EA5}"/>
              </a:ext>
            </a:extLst>
          </p:cNvPr>
          <p:cNvSpPr txBox="1"/>
          <p:nvPr/>
        </p:nvSpPr>
        <p:spPr>
          <a:xfrm>
            <a:off x="406400" y="63500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900">
                <a:solidFill>
                  <a:srgbClr val="555555"/>
                </a:solidFill>
                <a:latin typeface="Arial" panose="020B0604020202020204" pitchFamily="34" charset="0"/>
              </a:rPr>
              <a:t>Nguồn: khoảng trống còn lại trong eval/, validation/ và codebase/</a:t>
            </a:r>
          </a:p>
        </p:txBody>
      </p:sp>
      <p:sp>
        <p:nvSpPr>
          <p:cNvPr id="15" name="page-6">
            <a:extLst>
              <a:ext uri="{FF2B5EF4-FFF2-40B4-BE49-F238E27FC236}">
                <a16:creationId xmlns:a16="http://schemas.microsoft.com/office/drawing/2014/main" id="{CB5ECD7C-58EF-BEE3-73C8-289DE1A33791}"/>
              </a:ext>
            </a:extLst>
          </p:cNvPr>
          <p:cNvSpPr txBox="1"/>
          <p:nvPr/>
        </p:nvSpPr>
        <p:spPr>
          <a:xfrm>
            <a:off x="11150600" y="63246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sz="1000" b="1">
                <a:solidFill>
                  <a:srgbClr val="555555"/>
                </a:solidFill>
                <a:latin typeface="Arial" panose="020B0604020202020204" pitchFamily="34" charset="0"/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2103554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đạt phạm</dc:creator>
  <cp:lastModifiedBy>đạt phạm</cp:lastModifiedBy>
  <cp:revision>5</cp:revision>
  <dcterms:created xsi:type="dcterms:W3CDTF">2026-07-30T09:55:46Z</dcterms:created>
  <dcterms:modified xsi:type="dcterms:W3CDTF">2026-07-30T09:58:38Z</dcterms:modified>
</cp:coreProperties>
</file>